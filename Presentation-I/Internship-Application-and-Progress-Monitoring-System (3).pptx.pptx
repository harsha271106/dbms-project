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549505" cy="10295039"/>
            <a:chOff x="0" y="0"/>
            <a:chExt cx="10066007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066020" cy="13726668"/>
            </a:xfrm>
            <a:custGeom>
              <a:avLst/>
              <a:gdLst/>
              <a:ahLst/>
              <a:cxnLst/>
              <a:rect l="l" t="t" r="r" b="b"/>
              <a:pathLst>
                <a:path w="10066020" h="13726668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6182" y="2547442"/>
            <a:ext cx="9452677" cy="271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Internship Application &amp; Progress Monitoring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6182" y="5594880"/>
            <a:ext cx="9452677" cy="209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DBMS Project — Phase 1 / Review 1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Presenter: </a:t>
            </a: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Martala Harsha Vardhan Reddy</a:t>
            </a: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| Roll No: 25WU0102152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School of Technology, Woxsen University</a:t>
            </a:r>
          </a:p>
        </p:txBody>
      </p:sp>
      <p:pic>
        <p:nvPicPr>
          <p:cNvPr id="10" name="Picture 9" descr="Woxsen University - Wikipedia">
            <a:extLst>
              <a:ext uri="{FF2B5EF4-FFF2-40B4-BE49-F238E27FC236}">
                <a16:creationId xmlns:a16="http://schemas.microsoft.com/office/drawing/2014/main" id="{4728C06D-51EA-7D4F-9251-49C2EFD00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6800" y="267748"/>
            <a:ext cx="1657350" cy="837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2590781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Problem Statement &amp;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641" y="3960133"/>
            <a:ext cx="8220485" cy="3686975"/>
            <a:chOff x="0" y="0"/>
            <a:chExt cx="10960646" cy="4915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60608" cy="4916043"/>
            </a:xfrm>
            <a:custGeom>
              <a:avLst/>
              <a:gdLst/>
              <a:ahLst/>
              <a:cxnLst/>
              <a:rect l="l" t="t" r="r" b="b"/>
              <a:pathLst>
                <a:path w="10960608" h="4916043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0688193" y="0"/>
                  </a:lnTo>
                  <a:cubicBezTo>
                    <a:pt x="10838688" y="0"/>
                    <a:pt x="10960608" y="121920"/>
                    <a:pt x="10960608" y="272415"/>
                  </a:cubicBezTo>
                  <a:lnTo>
                    <a:pt x="10960608" y="4643628"/>
                  </a:lnTo>
                  <a:cubicBezTo>
                    <a:pt x="10960608" y="4794123"/>
                    <a:pt x="10838688" y="4916043"/>
                    <a:pt x="10688193" y="4916043"/>
                  </a:cubicBezTo>
                  <a:lnTo>
                    <a:pt x="272415" y="4916043"/>
                  </a:lnTo>
                  <a:cubicBezTo>
                    <a:pt x="121920" y="4915916"/>
                    <a:pt x="0" y="4793996"/>
                    <a:pt x="0" y="4643628"/>
                  </a:cubicBezTo>
                  <a:close/>
                </a:path>
              </a:pathLst>
            </a:custGeom>
            <a:solidFill>
              <a:srgbClr val="424242">
                <a:alpha val="9019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2372" y="4215298"/>
            <a:ext cx="7653023" cy="4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 Current State — Manual Tracking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2372" y="4960763"/>
            <a:ext cx="7653023" cy="2133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Fragmented spreadsheets with no centralized visibility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real-time status updates for students or faculty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 risk of data inconsistency and loss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audit trail for applications or progress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6588" y="4215298"/>
            <a:ext cx="7811795" cy="4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 Proposed Solution — Centralized RDBMS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6588" y="4960763"/>
            <a:ext cx="7811795" cy="258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Single relational database for all internship lifecycle data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Real-time tracking of applications, placements, and progress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Role-based access ensuring data integrity and security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Automated referential integrity and audit logging</a:t>
            </a:r>
          </a:p>
        </p:txBody>
      </p:sp>
      <p:pic>
        <p:nvPicPr>
          <p:cNvPr id="13" name="Picture 12" descr="Woxsen University - Wikipedia">
            <a:extLst>
              <a:ext uri="{FF2B5EF4-FFF2-40B4-BE49-F238E27FC236}">
                <a16:creationId xmlns:a16="http://schemas.microsoft.com/office/drawing/2014/main" id="{5E4AB0E1-4364-2FD5-D7D7-F350DF0F0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8200" y="266700"/>
            <a:ext cx="1962150" cy="897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249394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System Scope &amp; User Roles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665438"/>
            <a:ext cx="17230954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Four distinct actors interact with the system, each with clearly scoped permissions.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991" y="3533861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665" b="-1666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2991" y="4427401"/>
            <a:ext cx="7980540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991" y="4974222"/>
            <a:ext cx="7980540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Register, browse postings, submit applications, and upload weekly progress reports.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328156" y="3533861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32" b="-83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328156" y="4427401"/>
            <a:ext cx="7980693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28156" y="4974222"/>
            <a:ext cx="7980693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Post openings, review applications, and update selection status.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991" y="6544923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501" r="-750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92991" y="7438463"/>
            <a:ext cx="7980540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 Mentor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991" y="7985284"/>
            <a:ext cx="7980540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Monitor assigned students, review reports, and submit evaluations.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328156" y="6544923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331" b="-333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328156" y="7438463"/>
            <a:ext cx="7980693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28156" y="7985284"/>
            <a:ext cx="7980693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Manage users, postings, and system-wide configurations with full oversight.</a:t>
            </a:r>
          </a:p>
        </p:txBody>
      </p:sp>
      <p:pic>
        <p:nvPicPr>
          <p:cNvPr id="20" name="Picture 19" descr="Woxsen University - Wikipedia">
            <a:extLst>
              <a:ext uri="{FF2B5EF4-FFF2-40B4-BE49-F238E27FC236}">
                <a16:creationId xmlns:a16="http://schemas.microsoft.com/office/drawing/2014/main" id="{B06827FA-CA9F-8EE3-AF82-F407556B32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78200" y="201035"/>
            <a:ext cx="1962150" cy="827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79503"/>
            <a:ext cx="16315868" cy="92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Key Entities &amp; Primary Attributes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8219" y="2454602"/>
            <a:ext cx="16325393" cy="6808556"/>
            <a:chOff x="0" y="0"/>
            <a:chExt cx="21767190" cy="90780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67164" cy="9078087"/>
            </a:xfrm>
            <a:custGeom>
              <a:avLst/>
              <a:gdLst/>
              <a:ahLst/>
              <a:cxnLst/>
              <a:rect l="l" t="t" r="r" b="b"/>
              <a:pathLst>
                <a:path w="21767164" h="9078087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21610574" y="0"/>
                  </a:lnTo>
                  <a:cubicBezTo>
                    <a:pt x="21697062" y="0"/>
                    <a:pt x="21767164" y="70104"/>
                    <a:pt x="21767164" y="156591"/>
                  </a:cubicBezTo>
                  <a:lnTo>
                    <a:pt x="21767164" y="8921496"/>
                  </a:lnTo>
                  <a:cubicBezTo>
                    <a:pt x="21767164" y="9007983"/>
                    <a:pt x="21697062" y="9078087"/>
                    <a:pt x="21610574" y="9078087"/>
                  </a:cubicBezTo>
                  <a:lnTo>
                    <a:pt x="156591" y="9078087"/>
                  </a:lnTo>
                  <a:cubicBezTo>
                    <a:pt x="70104" y="9078087"/>
                    <a:pt x="0" y="9007983"/>
                    <a:pt x="0" y="892149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09" r="-3509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2525" y="2468909"/>
            <a:ext cx="16296799" cy="792089"/>
            <a:chOff x="0" y="0"/>
            <a:chExt cx="21729065" cy="10561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82227" y="2548071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Entity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0385" y="2548071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Primary Key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05537" y="2548071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Key Attributes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98197" y="2548071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Foreign Keys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2525" y="3260989"/>
            <a:ext cx="16296799" cy="792089"/>
            <a:chOff x="0" y="0"/>
            <a:chExt cx="21729065" cy="10561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82227" y="3340151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20385" y="3340151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student_id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5537" y="3340151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name, email, program, semester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98197" y="3340151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2525" y="4053078"/>
            <a:ext cx="16296799" cy="792089"/>
            <a:chOff x="0" y="0"/>
            <a:chExt cx="21729065" cy="10561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82227" y="4132240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20385" y="4132240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company_id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05537" y="4132240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name, industry, location, contact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98197" y="4132240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2525" y="4845167"/>
            <a:ext cx="16296799" cy="792089"/>
            <a:chOff x="0" y="0"/>
            <a:chExt cx="21729065" cy="10561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82227" y="4924330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Faculty_Mentor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20385" y="4924330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faculty_id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05537" y="4924330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name, department, email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998197" y="4924330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2525" y="5637247"/>
            <a:ext cx="16296799" cy="792089"/>
            <a:chOff x="0" y="0"/>
            <a:chExt cx="21729065" cy="10561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82227" y="5716410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Internship_Posting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20385" y="5716410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posting_id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05537" y="5716410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title, description, duration, stipend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98197" y="5716410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company_id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02525" y="6429337"/>
            <a:ext cx="16296799" cy="792089"/>
            <a:chOff x="0" y="0"/>
            <a:chExt cx="21729065" cy="10561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282227" y="6508499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20385" y="6508499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application_id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05537" y="6508499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status, applied_date, resume_url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98197" y="6508499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student_id, posting_id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02525" y="7221426"/>
            <a:ext cx="16296799" cy="1235345"/>
            <a:chOff x="0" y="0"/>
            <a:chExt cx="21729065" cy="164712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29064" cy="1647190"/>
            </a:xfrm>
            <a:custGeom>
              <a:avLst/>
              <a:gdLst/>
              <a:ahLst/>
              <a:cxnLst/>
              <a:rect l="l" t="t" r="r" b="b"/>
              <a:pathLst>
                <a:path w="21729064" h="1647190">
                  <a:moveTo>
                    <a:pt x="0" y="0"/>
                  </a:moveTo>
                  <a:lnTo>
                    <a:pt x="21729064" y="0"/>
                  </a:lnTo>
                  <a:lnTo>
                    <a:pt x="2172906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282227" y="7300589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Internship_Record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20385" y="7300589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record_id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05537" y="7300589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start_date, end_date, final_status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998197" y="7300589"/>
            <a:ext cx="3021863" cy="98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application_id, faculty_id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002525" y="8456771"/>
            <a:ext cx="16296799" cy="792089"/>
            <a:chOff x="0" y="0"/>
            <a:chExt cx="21729065" cy="105611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729064" cy="1056132"/>
            </a:xfrm>
            <a:custGeom>
              <a:avLst/>
              <a:gdLst/>
              <a:ahLst/>
              <a:cxnLst/>
              <a:rect l="l" t="t" r="r" b="b"/>
              <a:pathLst>
                <a:path w="21729064" h="1056132">
                  <a:moveTo>
                    <a:pt x="0" y="0"/>
                  </a:moveTo>
                  <a:lnTo>
                    <a:pt x="21729064" y="0"/>
                  </a:lnTo>
                  <a:lnTo>
                    <a:pt x="21729064" y="1056132"/>
                  </a:lnTo>
                  <a:lnTo>
                    <a:pt x="0" y="1056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1282227" y="8535934"/>
            <a:ext cx="3285182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Progress_Report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20385" y="8535934"/>
            <a:ext cx="3932187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report_id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805537" y="8535934"/>
            <a:ext cx="6539694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week_num, description, rating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998197" y="8535934"/>
            <a:ext cx="3936949" cy="5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record_id</a:t>
            </a:r>
          </a:p>
        </p:txBody>
      </p:sp>
      <p:pic>
        <p:nvPicPr>
          <p:cNvPr id="57" name="Picture 56" descr="Woxsen University - Wikipedia">
            <a:extLst>
              <a:ext uri="{FF2B5EF4-FFF2-40B4-BE49-F238E27FC236}">
                <a16:creationId xmlns:a16="http://schemas.microsoft.com/office/drawing/2014/main" id="{E17DC90F-0FF3-261D-8C67-ED48EF3DA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200" y="213260"/>
            <a:ext cx="2002678" cy="84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813416"/>
            <a:ext cx="16315868" cy="70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Entity-Relationship (ER) Diagram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414483" y="1935385"/>
            <a:ext cx="5055194" cy="6887042"/>
            <a:chOff x="0" y="0"/>
            <a:chExt cx="6740258" cy="918272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6740271" cy="9182735"/>
            </a:xfrm>
            <a:custGeom>
              <a:avLst/>
              <a:gdLst/>
              <a:ahLst/>
              <a:cxnLst/>
              <a:rect l="l" t="t" r="r" b="b"/>
              <a:pathLst>
                <a:path w="6740271" h="9182735">
                  <a:moveTo>
                    <a:pt x="0" y="0"/>
                  </a:moveTo>
                  <a:lnTo>
                    <a:pt x="6740271" y="0"/>
                  </a:lnTo>
                  <a:lnTo>
                    <a:pt x="6740271" y="9182735"/>
                  </a:lnTo>
                  <a:lnTo>
                    <a:pt x="0" y="918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" r="-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20054" y="4353068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Relationship 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0054" y="4863636"/>
            <a:ext cx="7898330" cy="206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Student → Application: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1:N — one student submits many applications</a:t>
            </a:r>
          </a:p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Company → Posting: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1:N — one company posts many openings</a:t>
            </a:r>
          </a:p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Posting → Application: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1:N — one posting receives many applications</a:t>
            </a:r>
          </a:p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Application → Record: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1:0..1 — only accepted applications generate a record</a:t>
            </a:r>
          </a:p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Faculty → Record: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1:N — one mentor guides many students</a:t>
            </a:r>
          </a:p>
          <a:p>
            <a:pPr marL="299075" lvl="1" indent="-149537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Record → Report:</a:t>
            </a: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1:N — one internship tracks many weekly reports</a:t>
            </a:r>
          </a:p>
        </p:txBody>
      </p:sp>
      <p:pic>
        <p:nvPicPr>
          <p:cNvPr id="11" name="Picture 10" descr="Woxsen University - Wikipedia">
            <a:extLst>
              <a:ext uri="{FF2B5EF4-FFF2-40B4-BE49-F238E27FC236}">
                <a16:creationId xmlns:a16="http://schemas.microsoft.com/office/drawing/2014/main" id="{1DECF97A-880E-6358-DF23-134987475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4400" y="283902"/>
            <a:ext cx="1885950" cy="820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158983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Relationships &amp; Cardinality Rules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2670277"/>
            <a:ext cx="5249418" cy="3062449"/>
          </a:xfrm>
          <a:custGeom>
            <a:avLst/>
            <a:gdLst/>
            <a:ahLst/>
            <a:cxnLst/>
            <a:rect l="l" t="t" r="r" b="b"/>
            <a:pathLst>
              <a:path w="5249418" h="3062449">
                <a:moveTo>
                  <a:pt x="0" y="0"/>
                </a:moveTo>
                <a:lnTo>
                  <a:pt x="5249418" y="0"/>
                </a:lnTo>
                <a:lnTo>
                  <a:pt x="5249418" y="3062449"/>
                </a:lnTo>
                <a:lnTo>
                  <a:pt x="0" y="3062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" b="-15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67364" y="2963570"/>
            <a:ext cx="4453176" cy="91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 → Application (1:N)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7364" y="3953656"/>
            <a:ext cx="4453176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Each student may submit multiple applications; student_id is a foreign key in Application.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26139" y="2670277"/>
            <a:ext cx="5249418" cy="3062449"/>
          </a:xfrm>
          <a:custGeom>
            <a:avLst/>
            <a:gdLst/>
            <a:ahLst/>
            <a:cxnLst/>
            <a:rect l="l" t="t" r="r" b="b"/>
            <a:pathLst>
              <a:path w="5249418" h="3062449">
                <a:moveTo>
                  <a:pt x="0" y="0"/>
                </a:moveTo>
                <a:lnTo>
                  <a:pt x="5249418" y="0"/>
                </a:lnTo>
                <a:lnTo>
                  <a:pt x="5249418" y="3062449"/>
                </a:lnTo>
                <a:lnTo>
                  <a:pt x="0" y="3062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" b="-15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000513" y="2963570"/>
            <a:ext cx="4453176" cy="91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 → Internship_Posting (1:N)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00513" y="3953656"/>
            <a:ext cx="4453176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 company can post multiple openings; company_id is referenced in Internship_Posting.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59288" y="2670277"/>
            <a:ext cx="5249418" cy="3062449"/>
          </a:xfrm>
          <a:custGeom>
            <a:avLst/>
            <a:gdLst/>
            <a:ahLst/>
            <a:cxnLst/>
            <a:rect l="l" t="t" r="r" b="b"/>
            <a:pathLst>
              <a:path w="5249418" h="3062449">
                <a:moveTo>
                  <a:pt x="0" y="0"/>
                </a:moveTo>
                <a:lnTo>
                  <a:pt x="5249418" y="0"/>
                </a:lnTo>
                <a:lnTo>
                  <a:pt x="5249418" y="3062449"/>
                </a:lnTo>
                <a:lnTo>
                  <a:pt x="0" y="3062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" b="-15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533662" y="2963570"/>
            <a:ext cx="4453176" cy="91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 → Internship_Record (1:0..1)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33662" y="3953656"/>
            <a:ext cx="4453176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Only accepted applications generate a record; application_id is a unique foreign key.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991" y="6016466"/>
            <a:ext cx="5249418" cy="3062449"/>
          </a:xfrm>
          <a:custGeom>
            <a:avLst/>
            <a:gdLst/>
            <a:ahLst/>
            <a:cxnLst/>
            <a:rect l="l" t="t" r="r" b="b"/>
            <a:pathLst>
              <a:path w="5249418" h="3062449">
                <a:moveTo>
                  <a:pt x="0" y="0"/>
                </a:moveTo>
                <a:lnTo>
                  <a:pt x="5249418" y="0"/>
                </a:lnTo>
                <a:lnTo>
                  <a:pt x="5249418" y="3062450"/>
                </a:lnTo>
                <a:lnTo>
                  <a:pt x="0" y="3062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" b="-15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67364" y="6309760"/>
            <a:ext cx="4453176" cy="91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Faculty_Mentor → Internship_Record (1:N)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7364" y="7299846"/>
            <a:ext cx="4453176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One faculty member guides multiple students; faculty_id is a foreign key in Internship_Record.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526139" y="6016466"/>
            <a:ext cx="5249418" cy="3062449"/>
          </a:xfrm>
          <a:custGeom>
            <a:avLst/>
            <a:gdLst/>
            <a:ahLst/>
            <a:cxnLst/>
            <a:rect l="l" t="t" r="r" b="b"/>
            <a:pathLst>
              <a:path w="5249418" h="3062449">
                <a:moveTo>
                  <a:pt x="0" y="0"/>
                </a:moveTo>
                <a:lnTo>
                  <a:pt x="5249418" y="0"/>
                </a:lnTo>
                <a:lnTo>
                  <a:pt x="5249418" y="3062450"/>
                </a:lnTo>
                <a:lnTo>
                  <a:pt x="0" y="3062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" b="-15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000513" y="6309760"/>
            <a:ext cx="4453176" cy="91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Internship_Record → Progress_Report (1:N)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00513" y="7299846"/>
            <a:ext cx="4453176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Each internship tracks multiple weekly reports; record_id cascades on delete.</a:t>
            </a:r>
          </a:p>
        </p:txBody>
      </p:sp>
      <p:pic>
        <p:nvPicPr>
          <p:cNvPr id="22" name="Picture 21" descr="Woxsen University - Wikipedia">
            <a:extLst>
              <a:ext uri="{FF2B5EF4-FFF2-40B4-BE49-F238E27FC236}">
                <a16:creationId xmlns:a16="http://schemas.microsoft.com/office/drawing/2014/main" id="{17D27185-1CEE-00AC-EFF9-CE15168BA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200" y="246587"/>
            <a:ext cx="1962150" cy="705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79326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Relational Schema &amp; Foreign Key Constraints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8219" y="2285848"/>
            <a:ext cx="16325393" cy="5723344"/>
            <a:chOff x="0" y="0"/>
            <a:chExt cx="21767190" cy="76311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67166" cy="7631050"/>
            </a:xfrm>
            <a:custGeom>
              <a:avLst/>
              <a:gdLst/>
              <a:ahLst/>
              <a:cxnLst/>
              <a:rect l="l" t="t" r="r" b="b"/>
              <a:pathLst>
                <a:path w="21767166" h="763105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21608035" y="0"/>
                  </a:lnTo>
                  <a:cubicBezTo>
                    <a:pt x="21695919" y="0"/>
                    <a:pt x="21767166" y="71247"/>
                    <a:pt x="21767166" y="159131"/>
                  </a:cubicBezTo>
                  <a:lnTo>
                    <a:pt x="21767166" y="7471918"/>
                  </a:lnTo>
                  <a:cubicBezTo>
                    <a:pt x="21767166" y="7559802"/>
                    <a:pt x="21695919" y="7631050"/>
                    <a:pt x="21608035" y="7631050"/>
                  </a:cubicBezTo>
                  <a:lnTo>
                    <a:pt x="159131" y="7631050"/>
                  </a:lnTo>
                  <a:cubicBezTo>
                    <a:pt x="71247" y="7631176"/>
                    <a:pt x="0" y="7559802"/>
                    <a:pt x="0" y="7471918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9" b="-5580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2525" y="2300154"/>
            <a:ext cx="16296799" cy="813540"/>
            <a:chOff x="0" y="0"/>
            <a:chExt cx="21729065" cy="1084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86694" y="238467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Table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6619" y="238467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Primary Key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61772" y="238467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Foreign Key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76633" y="238467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Referential Action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2525" y="3113684"/>
            <a:ext cx="16296799" cy="813540"/>
            <a:chOff x="0" y="0"/>
            <a:chExt cx="21729065" cy="1084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86694" y="319820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76619" y="319820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application_id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61772" y="319820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student_id → Student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76633" y="319820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RESTRICT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2525" y="3927224"/>
            <a:ext cx="16296799" cy="813540"/>
            <a:chOff x="0" y="0"/>
            <a:chExt cx="21729065" cy="1084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86694" y="401174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6619" y="401174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application_id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61772" y="401174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posting_id → Internship_Posting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76633" y="401174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CASCADE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2525" y="4740754"/>
            <a:ext cx="16296799" cy="813540"/>
            <a:chOff x="0" y="0"/>
            <a:chExt cx="21729065" cy="10847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86694" y="482527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Internship_Posting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76619" y="482527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posting_id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61772" y="482527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company_id → Company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76633" y="482527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SET NULL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2525" y="5554285"/>
            <a:ext cx="16296799" cy="813540"/>
            <a:chOff x="0" y="0"/>
            <a:chExt cx="21729065" cy="1084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86694" y="5638810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Internship_Record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76619" y="5638810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record_id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1772" y="5638810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application_id → Application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76633" y="5638810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CASCADE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02525" y="6367824"/>
            <a:ext cx="16296799" cy="813540"/>
            <a:chOff x="0" y="0"/>
            <a:chExt cx="21729065" cy="1084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286694" y="645234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Internship_Record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76619" y="645234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record_id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61772" y="645234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faculty_id → Faculty_Mentor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76633" y="645234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SET NULL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02525" y="7181355"/>
            <a:ext cx="16296799" cy="813540"/>
            <a:chOff x="0" y="0"/>
            <a:chExt cx="21729065" cy="10847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29064" cy="1084707"/>
            </a:xfrm>
            <a:custGeom>
              <a:avLst/>
              <a:gdLst/>
              <a:ahLst/>
              <a:cxnLst/>
              <a:rect l="l" t="t" r="r" b="b"/>
              <a:pathLst>
                <a:path w="21729064" h="1084707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286694" y="7265889"/>
            <a:ext cx="3928015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Progress_Report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876619" y="7265889"/>
            <a:ext cx="3923252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report_id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61772" y="7265889"/>
            <a:ext cx="5552961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record_id → Internship_Record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676633" y="7265889"/>
            <a:ext cx="425404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DELETE CASCADE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92991" y="8323612"/>
            <a:ext cx="16315868" cy="1134808"/>
            <a:chOff x="0" y="0"/>
            <a:chExt cx="21754490" cy="151307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754464" cy="1513078"/>
            </a:xfrm>
            <a:custGeom>
              <a:avLst/>
              <a:gdLst/>
              <a:ahLst/>
              <a:cxnLst/>
              <a:rect l="l" t="t" r="r" b="b"/>
              <a:pathLst>
                <a:path w="21754464" h="1513078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21595587" y="0"/>
                  </a:lnTo>
                  <a:cubicBezTo>
                    <a:pt x="21683345" y="0"/>
                    <a:pt x="21754464" y="71120"/>
                    <a:pt x="21754464" y="158877"/>
                  </a:cubicBezTo>
                  <a:lnTo>
                    <a:pt x="21754464" y="1354201"/>
                  </a:lnTo>
                  <a:cubicBezTo>
                    <a:pt x="21754464" y="1441958"/>
                    <a:pt x="21683345" y="1513078"/>
                    <a:pt x="21595587" y="1513078"/>
                  </a:cubicBezTo>
                  <a:lnTo>
                    <a:pt x="158877" y="1513078"/>
                  </a:lnTo>
                  <a:cubicBezTo>
                    <a:pt x="71120" y="1513078"/>
                    <a:pt x="0" y="1441958"/>
                    <a:pt x="0" y="135420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76721" y="8725462"/>
            <a:ext cx="354625" cy="283740"/>
            <a:chOff x="0" y="0"/>
            <a:chExt cx="472834" cy="378320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4" r="-676" b="3"/>
              </a:stretch>
            </a:blipFill>
          </p:spPr>
        </p:sp>
      </p:grpSp>
      <p:sp>
        <p:nvSpPr>
          <p:cNvPr id="55" name="TextBox 55"/>
          <p:cNvSpPr txBox="1"/>
          <p:nvPr/>
        </p:nvSpPr>
        <p:spPr>
          <a:xfrm>
            <a:off x="1915077" y="8582997"/>
            <a:ext cx="16025136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CASCADE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for child records; </a:t>
            </a:r>
            <a:r>
              <a:rPr lang="en-US" sz="21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RESTRICT / SET NULL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for core entities to preserve history.</a:t>
            </a:r>
          </a:p>
        </p:txBody>
      </p:sp>
      <p:pic>
        <p:nvPicPr>
          <p:cNvPr id="56" name="Picture 55" descr="Woxsen University - Wikipedia">
            <a:extLst>
              <a:ext uri="{FF2B5EF4-FFF2-40B4-BE49-F238E27FC236}">
                <a16:creationId xmlns:a16="http://schemas.microsoft.com/office/drawing/2014/main" id="{8D505509-C62F-9824-8E33-27ED7BC03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2064" y="79781"/>
            <a:ext cx="1733550" cy="650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59190"/>
            <a:ext cx="16315868" cy="48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Database Normalization (1NF → 3NF)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1442828"/>
            <a:ext cx="7979502" cy="7979702"/>
            <a:chOff x="0" y="0"/>
            <a:chExt cx="10639336" cy="1063960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639298" cy="10639552"/>
            </a:xfrm>
            <a:custGeom>
              <a:avLst/>
              <a:gdLst/>
              <a:ahLst/>
              <a:cxnLst/>
              <a:rect l="l" t="t" r="r" b="b"/>
              <a:pathLst>
                <a:path w="10639298" h="10639552">
                  <a:moveTo>
                    <a:pt x="0" y="0"/>
                  </a:moveTo>
                  <a:lnTo>
                    <a:pt x="10639298" y="0"/>
                  </a:lnTo>
                  <a:lnTo>
                    <a:pt x="10639298" y="10639552"/>
                  </a:lnTo>
                  <a:lnTo>
                    <a:pt x="0" y="106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338882" y="4989062"/>
            <a:ext cx="7979502" cy="24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Normalization Applied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8882" y="5341563"/>
            <a:ext cx="7979502" cy="56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3914" lvl="1" indent="-101957" algn="l">
              <a:lnSpc>
                <a:spcPts val="1364"/>
              </a:lnSpc>
              <a:buFont typeface="Arial"/>
              <a:buChar char="•"/>
            </a:pPr>
            <a:r>
              <a:rPr lang="en-US" sz="1125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1NF:</a:t>
            </a:r>
            <a:r>
              <a:rPr lang="en-US" sz="11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All attributes are atomic — no multi-valued fields in any entity.</a:t>
            </a:r>
          </a:p>
          <a:p>
            <a:pPr marL="203914" lvl="1" indent="-101957" algn="l">
              <a:lnSpc>
                <a:spcPts val="1364"/>
              </a:lnSpc>
              <a:buFont typeface="Arial"/>
              <a:buChar char="•"/>
            </a:pPr>
            <a:r>
              <a:rPr lang="en-US" sz="1125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2NF:</a:t>
            </a:r>
            <a:r>
              <a:rPr lang="en-US" sz="11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Composite keys eliminated; every non-key attribute depends on the full primary key.</a:t>
            </a:r>
          </a:p>
          <a:p>
            <a:pPr marL="203914" lvl="1" indent="-101957" algn="l">
              <a:lnSpc>
                <a:spcPts val="1364"/>
              </a:lnSpc>
              <a:buFont typeface="Arial"/>
              <a:buChar char="•"/>
            </a:pPr>
            <a:r>
              <a:rPr lang="en-US" sz="1125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3NF:</a:t>
            </a:r>
            <a:r>
              <a:rPr lang="en-US" sz="11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Transitive dependencies removed — e.g., company details are in Company, not duplicated in Internship_Posting.</a:t>
            </a:r>
          </a:p>
        </p:txBody>
      </p:sp>
      <p:pic>
        <p:nvPicPr>
          <p:cNvPr id="11" name="Picture 10" descr="Woxsen University - Wikipedia">
            <a:extLst>
              <a:ext uri="{FF2B5EF4-FFF2-40B4-BE49-F238E27FC236}">
                <a16:creationId xmlns:a16="http://schemas.microsoft.com/office/drawing/2014/main" id="{A743BDCC-11D7-CAD9-ED12-B4989252E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1609" y="54340"/>
            <a:ext cx="17335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52334" y="0"/>
            <a:ext cx="7535666" cy="10276166"/>
            <a:chOff x="0" y="0"/>
            <a:chExt cx="10066007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066020" cy="13726668"/>
            </a:xfrm>
            <a:custGeom>
              <a:avLst/>
              <a:gdLst/>
              <a:ahLst/>
              <a:cxnLst/>
              <a:rect l="l" t="t" r="r" b="b"/>
              <a:pathLst>
                <a:path w="10066020" h="13726668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991" y="940470"/>
            <a:ext cx="9452677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Expected Modules &amp; Phase 2 Roadmap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8219" y="2821600"/>
            <a:ext cx="984799" cy="1472613"/>
            <a:chOff x="0" y="0"/>
            <a:chExt cx="1313066" cy="19634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3180" cy="1963547"/>
            </a:xfrm>
            <a:custGeom>
              <a:avLst/>
              <a:gdLst/>
              <a:ahLst/>
              <a:cxnLst/>
              <a:rect l="l" t="t" r="r" b="b"/>
              <a:pathLst>
                <a:path w="1313180" h="1963547">
                  <a:moveTo>
                    <a:pt x="0" y="656590"/>
                  </a:moveTo>
                  <a:cubicBezTo>
                    <a:pt x="0" y="293878"/>
                    <a:pt x="293878" y="0"/>
                    <a:pt x="656590" y="0"/>
                  </a:cubicBezTo>
                  <a:cubicBezTo>
                    <a:pt x="1019302" y="0"/>
                    <a:pt x="1313180" y="293878"/>
                    <a:pt x="1313180" y="656590"/>
                  </a:cubicBezTo>
                  <a:lnTo>
                    <a:pt x="1313180" y="1306957"/>
                  </a:lnTo>
                  <a:cubicBezTo>
                    <a:pt x="1313180" y="1669542"/>
                    <a:pt x="1019302" y="1963547"/>
                    <a:pt x="656590" y="1963547"/>
                  </a:cubicBezTo>
                  <a:cubicBezTo>
                    <a:pt x="293878" y="1963547"/>
                    <a:pt x="0" y="1669542"/>
                    <a:pt x="0" y="130695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297724" y="3375079"/>
            <a:ext cx="365646" cy="365655"/>
          </a:xfrm>
          <a:custGeom>
            <a:avLst/>
            <a:gdLst/>
            <a:ahLst/>
            <a:cxnLst/>
            <a:rect l="l" t="t" r="r" b="b"/>
            <a:pathLst>
              <a:path w="365646" h="365655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689" b="-769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77663" y="3041618"/>
            <a:ext cx="826799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SQL DDL Execution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7663" y="3500704"/>
            <a:ext cx="8267995" cy="4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Finalize and execute CREATE TABLE scripts with all constraints and indexes.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8219" y="4494105"/>
            <a:ext cx="984799" cy="1472613"/>
            <a:chOff x="0" y="0"/>
            <a:chExt cx="1313066" cy="19634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3180" cy="1963547"/>
            </a:xfrm>
            <a:custGeom>
              <a:avLst/>
              <a:gdLst/>
              <a:ahLst/>
              <a:cxnLst/>
              <a:rect l="l" t="t" r="r" b="b"/>
              <a:pathLst>
                <a:path w="1313180" h="1963547">
                  <a:moveTo>
                    <a:pt x="0" y="656590"/>
                  </a:moveTo>
                  <a:cubicBezTo>
                    <a:pt x="0" y="293878"/>
                    <a:pt x="293878" y="0"/>
                    <a:pt x="656590" y="0"/>
                  </a:cubicBezTo>
                  <a:cubicBezTo>
                    <a:pt x="1019302" y="0"/>
                    <a:pt x="1313180" y="293878"/>
                    <a:pt x="1313180" y="656590"/>
                  </a:cubicBezTo>
                  <a:lnTo>
                    <a:pt x="1313180" y="1306957"/>
                  </a:lnTo>
                  <a:cubicBezTo>
                    <a:pt x="1313180" y="1669542"/>
                    <a:pt x="1019302" y="1963547"/>
                    <a:pt x="656590" y="1963547"/>
                  </a:cubicBezTo>
                  <a:cubicBezTo>
                    <a:pt x="293878" y="1963547"/>
                    <a:pt x="0" y="1669542"/>
                    <a:pt x="0" y="130695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16" name="Freeform 16" descr="preencoded.png"/>
          <p:cNvSpPr/>
          <p:nvPr/>
        </p:nvSpPr>
        <p:spPr>
          <a:xfrm>
            <a:off x="1297724" y="5047583"/>
            <a:ext cx="365646" cy="365655"/>
          </a:xfrm>
          <a:custGeom>
            <a:avLst/>
            <a:gdLst/>
            <a:ahLst/>
            <a:cxnLst/>
            <a:rect l="l" t="t" r="r" b="b"/>
            <a:pathLst>
              <a:path w="365646" h="365655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129" r="-513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177663" y="4714113"/>
            <a:ext cx="826799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Sample Data Population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7663" y="5173199"/>
            <a:ext cx="8267995" cy="4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Insert realistic test data across all seven entities for query validation.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88219" y="6166599"/>
            <a:ext cx="984799" cy="1472613"/>
            <a:chOff x="0" y="0"/>
            <a:chExt cx="1313066" cy="19634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3180" cy="1963547"/>
            </a:xfrm>
            <a:custGeom>
              <a:avLst/>
              <a:gdLst/>
              <a:ahLst/>
              <a:cxnLst/>
              <a:rect l="l" t="t" r="r" b="b"/>
              <a:pathLst>
                <a:path w="1313180" h="1963547">
                  <a:moveTo>
                    <a:pt x="0" y="656590"/>
                  </a:moveTo>
                  <a:cubicBezTo>
                    <a:pt x="0" y="293878"/>
                    <a:pt x="293878" y="0"/>
                    <a:pt x="656590" y="0"/>
                  </a:cubicBezTo>
                  <a:cubicBezTo>
                    <a:pt x="1019302" y="0"/>
                    <a:pt x="1313180" y="293878"/>
                    <a:pt x="1313180" y="656590"/>
                  </a:cubicBezTo>
                  <a:lnTo>
                    <a:pt x="1313180" y="1306957"/>
                  </a:lnTo>
                  <a:cubicBezTo>
                    <a:pt x="1313180" y="1669542"/>
                    <a:pt x="1019302" y="1963547"/>
                    <a:pt x="656590" y="1963547"/>
                  </a:cubicBezTo>
                  <a:cubicBezTo>
                    <a:pt x="293878" y="1963547"/>
                    <a:pt x="0" y="1669542"/>
                    <a:pt x="0" y="130695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21" name="Freeform 21" descr="preencoded.png"/>
          <p:cNvSpPr/>
          <p:nvPr/>
        </p:nvSpPr>
        <p:spPr>
          <a:xfrm>
            <a:off x="1297724" y="6720078"/>
            <a:ext cx="365646" cy="365655"/>
          </a:xfrm>
          <a:custGeom>
            <a:avLst/>
            <a:gdLst/>
            <a:ahLst/>
            <a:cxnLst/>
            <a:rect l="l" t="t" r="r" b="b"/>
            <a:pathLst>
              <a:path w="365646" h="365655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563" b="-256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177663" y="6386617"/>
            <a:ext cx="826799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Complex Query Building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7663" y="6845694"/>
            <a:ext cx="8267995" cy="4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Develop JOIN, aggregation, and subquery reports for each user role.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8219" y="7839094"/>
            <a:ext cx="984799" cy="1472613"/>
            <a:chOff x="0" y="0"/>
            <a:chExt cx="1313066" cy="19634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13180" cy="1963547"/>
            </a:xfrm>
            <a:custGeom>
              <a:avLst/>
              <a:gdLst/>
              <a:ahLst/>
              <a:cxnLst/>
              <a:rect l="l" t="t" r="r" b="b"/>
              <a:pathLst>
                <a:path w="1313180" h="1963547">
                  <a:moveTo>
                    <a:pt x="0" y="656590"/>
                  </a:moveTo>
                  <a:cubicBezTo>
                    <a:pt x="0" y="293878"/>
                    <a:pt x="293878" y="0"/>
                    <a:pt x="656590" y="0"/>
                  </a:cubicBezTo>
                  <a:cubicBezTo>
                    <a:pt x="1019302" y="0"/>
                    <a:pt x="1313180" y="293878"/>
                    <a:pt x="1313180" y="656590"/>
                  </a:cubicBezTo>
                  <a:lnTo>
                    <a:pt x="1313180" y="1306957"/>
                  </a:lnTo>
                  <a:cubicBezTo>
                    <a:pt x="1313180" y="1669542"/>
                    <a:pt x="1019302" y="1963547"/>
                    <a:pt x="656590" y="1963547"/>
                  </a:cubicBezTo>
                  <a:cubicBezTo>
                    <a:pt x="293878" y="1963547"/>
                    <a:pt x="0" y="1669542"/>
                    <a:pt x="0" y="130695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297724" y="8392573"/>
            <a:ext cx="365646" cy="365655"/>
          </a:xfrm>
          <a:custGeom>
            <a:avLst/>
            <a:gdLst/>
            <a:ahLst/>
            <a:cxnLst/>
            <a:rect l="l" t="t" r="r" b="b"/>
            <a:pathLst>
              <a:path w="365646" h="365655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565" r="-2565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77663" y="8059112"/>
            <a:ext cx="826799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Frontend Integration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77663" y="8518198"/>
            <a:ext cx="8267995" cy="4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Connect backend to a web interface for live system demonstration.</a:t>
            </a:r>
          </a:p>
        </p:txBody>
      </p:sp>
      <p:pic>
        <p:nvPicPr>
          <p:cNvPr id="29" name="Picture 28" descr="Woxsen University - Wikipedia">
            <a:extLst>
              <a:ext uri="{FF2B5EF4-FFF2-40B4-BE49-F238E27FC236}">
                <a16:creationId xmlns:a16="http://schemas.microsoft.com/office/drawing/2014/main" id="{4904E2F5-DC78-754E-50CE-74672387C7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3000" y="64085"/>
            <a:ext cx="1733550" cy="876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798</Words>
  <Application>Microsoft Office PowerPoint</Application>
  <PresentationFormat>Custom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Arimo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Internship-Application-and-Progress-Monitoring-System (3).pptx</dc:title>
  <cp:lastModifiedBy>Harsha Vardhan Reddy Martala</cp:lastModifiedBy>
  <cp:revision>3</cp:revision>
  <dcterms:created xsi:type="dcterms:W3CDTF">2006-08-16T00:00:00Z</dcterms:created>
  <dcterms:modified xsi:type="dcterms:W3CDTF">2026-08-24T17:01:54Z</dcterms:modified>
  <dc:identifier>DAHTOE4rPzU</dc:identifier>
</cp:coreProperties>
</file>