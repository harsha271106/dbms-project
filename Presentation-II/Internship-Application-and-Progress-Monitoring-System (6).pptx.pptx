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Arimo Italics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52334" y="0"/>
            <a:ext cx="7535666" cy="10276166"/>
            <a:chOff x="0" y="0"/>
            <a:chExt cx="10066007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0066020" cy="13726668"/>
            </a:xfrm>
            <a:custGeom>
              <a:avLst/>
              <a:gdLst/>
              <a:ahLst/>
              <a:cxnLst/>
              <a:rect l="l" t="t" r="r" b="b"/>
              <a:pathLst>
                <a:path w="10066020" h="13726668">
                  <a:moveTo>
                    <a:pt x="0" y="0"/>
                  </a:moveTo>
                  <a:lnTo>
                    <a:pt x="10066020" y="0"/>
                  </a:lnTo>
                  <a:lnTo>
                    <a:pt x="1006602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991" y="2479967"/>
            <a:ext cx="9452677" cy="271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Internship Application &amp; Progress Monitoring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991" y="5527405"/>
            <a:ext cx="9452677" cy="223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DBMS Project — Phase 2 / Review 2:</a:t>
            </a: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Implementation, Schema Validation &amp; Query Execution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Presenter: </a:t>
            </a: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Martala Harsha Vardhan Reddy</a:t>
            </a: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| Roll No: 25WU0102152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School of Technology, Woxsen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726759"/>
            <a:ext cx="16315868" cy="94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Review 2 — Scope &amp; Core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3142802"/>
            <a:ext cx="17230954" cy="54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Four deliverables define this review phase.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8219" y="4006453"/>
            <a:ext cx="8025527" cy="2117541"/>
            <a:chOff x="0" y="0"/>
            <a:chExt cx="10700702" cy="28233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00766" cy="2823464"/>
            </a:xfrm>
            <a:custGeom>
              <a:avLst/>
              <a:gdLst/>
              <a:ahLst/>
              <a:cxnLst/>
              <a:rect l="l" t="t" r="r" b="b"/>
              <a:pathLst>
                <a:path w="10700766" h="282346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41127" y="0"/>
                  </a:lnTo>
                  <a:cubicBezTo>
                    <a:pt x="10629265" y="0"/>
                    <a:pt x="10700766" y="71501"/>
                    <a:pt x="10700766" y="159639"/>
                  </a:cubicBezTo>
                  <a:lnTo>
                    <a:pt x="10700766" y="2663825"/>
                  </a:lnTo>
                  <a:cubicBezTo>
                    <a:pt x="10700766" y="2751963"/>
                    <a:pt x="10629265" y="2823464"/>
                    <a:pt x="10541127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86256" y="4275925"/>
            <a:ext cx="742946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Implementation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6256" y="4822746"/>
            <a:ext cx="7429462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Execute SQL DDL scripts to instantiate 7 relational tables with precise data types and constraints.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87942" y="4006453"/>
            <a:ext cx="8025670" cy="2117541"/>
            <a:chOff x="0" y="0"/>
            <a:chExt cx="10700893" cy="28233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00893" cy="2823464"/>
            </a:xfrm>
            <a:custGeom>
              <a:avLst/>
              <a:gdLst/>
              <a:ahLst/>
              <a:cxnLst/>
              <a:rect l="l" t="t" r="r" b="b"/>
              <a:pathLst>
                <a:path w="10700893" h="282346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41254" y="0"/>
                  </a:lnTo>
                  <a:cubicBezTo>
                    <a:pt x="10629392" y="0"/>
                    <a:pt x="10700893" y="71501"/>
                    <a:pt x="10700893" y="159639"/>
                  </a:cubicBezTo>
                  <a:lnTo>
                    <a:pt x="10700893" y="2663825"/>
                  </a:lnTo>
                  <a:cubicBezTo>
                    <a:pt x="10700893" y="2751963"/>
                    <a:pt x="10629392" y="2823464"/>
                    <a:pt x="10541254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9585979" y="4275925"/>
            <a:ext cx="7429614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Referential Integrity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85979" y="4822746"/>
            <a:ext cx="7429614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Apply ON DELETE CASCADE, RESTRICT, and SET NULL actions across entities.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88219" y="6398209"/>
            <a:ext cx="8025527" cy="2117541"/>
            <a:chOff x="0" y="0"/>
            <a:chExt cx="10700702" cy="28233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00766" cy="2823464"/>
            </a:xfrm>
            <a:custGeom>
              <a:avLst/>
              <a:gdLst/>
              <a:ahLst/>
              <a:cxnLst/>
              <a:rect l="l" t="t" r="r" b="b"/>
              <a:pathLst>
                <a:path w="10700766" h="282346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41127" y="0"/>
                  </a:lnTo>
                  <a:cubicBezTo>
                    <a:pt x="10629265" y="0"/>
                    <a:pt x="10700766" y="71501"/>
                    <a:pt x="10700766" y="159639"/>
                  </a:cubicBezTo>
                  <a:lnTo>
                    <a:pt x="10700766" y="2663825"/>
                  </a:lnTo>
                  <a:cubicBezTo>
                    <a:pt x="10700766" y="2751963"/>
                    <a:pt x="10629265" y="2823464"/>
                    <a:pt x="10541127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86256" y="6667671"/>
            <a:ext cx="742946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Sample Data Ingestion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6256" y="7214502"/>
            <a:ext cx="7429462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Populate realistic university placement and internship logs across all entities.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87942" y="6398209"/>
            <a:ext cx="8025670" cy="2117541"/>
            <a:chOff x="0" y="0"/>
            <a:chExt cx="10700893" cy="28233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00893" cy="2823464"/>
            </a:xfrm>
            <a:custGeom>
              <a:avLst/>
              <a:gdLst/>
              <a:ahLst/>
              <a:cxnLst/>
              <a:rect l="l" t="t" r="r" b="b"/>
              <a:pathLst>
                <a:path w="10700893" h="282346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0541254" y="0"/>
                  </a:lnTo>
                  <a:cubicBezTo>
                    <a:pt x="10629392" y="0"/>
                    <a:pt x="10700893" y="71501"/>
                    <a:pt x="10700893" y="159639"/>
                  </a:cubicBezTo>
                  <a:lnTo>
                    <a:pt x="10700893" y="2663825"/>
                  </a:lnTo>
                  <a:cubicBezTo>
                    <a:pt x="10700893" y="2751963"/>
                    <a:pt x="10629392" y="2823464"/>
                    <a:pt x="10541254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404040"/>
            </a:solidFill>
            <a:ln w="9532" cap="sq">
              <a:solidFill>
                <a:srgbClr val="595959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585979" y="6667671"/>
            <a:ext cx="7429614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Query Verification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85979" y="7214502"/>
            <a:ext cx="7429614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Execute multi-table JOINs, weak entity traversals, and aggregations.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94052"/>
            <a:ext cx="16315868" cy="74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Finalised Entity-Relationship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4184190"/>
            <a:ext cx="7882090" cy="70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Seven entities mapped using Chen's notation with two key modelling decisions: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4996244"/>
            <a:ext cx="7882090" cy="213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2670" lvl="1" indent="-156335" algn="l">
              <a:lnSpc>
                <a:spcPts val="2485"/>
              </a:lnSpc>
              <a:buFont typeface="Arial"/>
              <a:buChar char="•"/>
            </a:pPr>
            <a:r>
              <a:rPr lang="en-US" sz="172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Weak Entity — Progress_Report:</a:t>
            </a: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Identified by Internship_Record via the Tracks relationship; week_num serves as the partial key.</a:t>
            </a:r>
          </a:p>
          <a:p>
            <a:pPr marL="312670" lvl="1" indent="-156335" algn="l">
              <a:lnSpc>
                <a:spcPts val="2485"/>
              </a:lnSpc>
              <a:buFont typeface="Arial"/>
              <a:buChar char="•"/>
            </a:pPr>
            <a:r>
              <a:rPr lang="en-US" sz="172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Conditional Cardinality — Generates:</a:t>
            </a: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Application to Internship_Record enforces a 1 to 0..1 optional constraint for accepted applications only.</a:t>
            </a:r>
          </a:p>
          <a:p>
            <a:pPr marL="312670" lvl="1" indent="-156335" algn="l">
              <a:lnSpc>
                <a:spcPts val="2485"/>
              </a:lnSpc>
              <a:buFont typeface="Arial"/>
              <a:buChar char="•"/>
            </a:pPr>
            <a:r>
              <a:rPr lang="en-US" sz="172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Total Participation:</a:t>
            </a:r>
            <a:r>
              <a:rPr lang="en-US" sz="172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Progress_Report is fully dependent on Internship_Record in the Tracks relationship.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D7F42F-52FB-D16E-1E97-4089128029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90500"/>
            <a:ext cx="7467600" cy="967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77526"/>
            <a:ext cx="16315868" cy="851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02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Relational Schema &amp; Integrity Constraints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018557"/>
            <a:ext cx="17230954" cy="46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Seven tables with primary keys, foreign keys, and referential actions.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92988" y="2749068"/>
          <a:ext cx="16300485" cy="6634583"/>
        </p:xfrm>
        <a:graphic>
          <a:graphicData uri="http://schemas.openxmlformats.org/drawingml/2006/table">
            <a:tbl>
              <a:tblPr/>
              <a:tblGrid>
                <a:gridCol w="3590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4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0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072"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Table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Primary Key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Foreign Keys &amp; Referential Actions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Constraints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072"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Student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student_id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email UNIQUE NOT NULL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072"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Company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company_id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name NOT NULL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072"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Faculty_Mentor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faculty_id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email UNIQUE NOT NULL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072"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Internship_Posting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posting_id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company_id → Company (SET NULL)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1409"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Application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application_id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student_id → Student (RESTRICT), posting_id → Posting (CASCADE)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1409"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Internship_Record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record_id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application_id → Application (CASCADE), faculty_id → Mentor (SET NULL)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61409"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Progress_Report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(record_id, week_num)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record_id → Internship_Record (CASCADE)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week_num is discriminator</a:t>
                      </a:r>
                      <a:endParaRPr lang="en-US" sz="1100"/>
                    </a:p>
                  </a:txBody>
                  <a:tcPr marL="171298" marR="171298" marT="171298" marB="1712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197854"/>
            <a:ext cx="16315868" cy="94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SQL DDL 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822372"/>
            <a:ext cx="7811795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Master Entity — Student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991" y="3613394"/>
            <a:ext cx="7811795" cy="4199344"/>
            <a:chOff x="0" y="0"/>
            <a:chExt cx="10415727" cy="55991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15651" cy="5599049"/>
            </a:xfrm>
            <a:custGeom>
              <a:avLst/>
              <a:gdLst/>
              <a:ahLst/>
              <a:cxnLst/>
              <a:rect l="l" t="t" r="r" b="b"/>
              <a:pathLst>
                <a:path w="10415651" h="5599049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0256774" y="0"/>
                  </a:lnTo>
                  <a:cubicBezTo>
                    <a:pt x="10344531" y="0"/>
                    <a:pt x="10415651" y="71120"/>
                    <a:pt x="10415651" y="158877"/>
                  </a:cubicBezTo>
                  <a:lnTo>
                    <a:pt x="10415651" y="5440172"/>
                  </a:lnTo>
                  <a:cubicBezTo>
                    <a:pt x="10415651" y="5527929"/>
                    <a:pt x="10344531" y="5599049"/>
                    <a:pt x="10256774" y="5599049"/>
                  </a:cubicBezTo>
                  <a:lnTo>
                    <a:pt x="158877" y="5599049"/>
                  </a:lnTo>
                  <a:cubicBezTo>
                    <a:pt x="71120" y="5599176"/>
                    <a:pt x="0" y="5527929"/>
                    <a:pt x="0" y="5440172"/>
                  </a:cubicBezTo>
                  <a:close/>
                </a:path>
              </a:pathLst>
            </a:custGeom>
            <a:solidFill>
              <a:srgbClr val="252323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33462" y="3773310"/>
            <a:ext cx="7130834" cy="375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CREATE TABLE Student (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student_id VARCHAR(15) PRIMARY KEY,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name       VARCHAR(100) NOT NULL,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email      VARCHAR(100) UNIQUE NOT NULL,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program    VARCHAR(50),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semester   INT,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cgpa       DECIMAL(3, 2)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6588" y="2822372"/>
            <a:ext cx="7811795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Weak Entity — Progress_Report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506588" y="3613394"/>
            <a:ext cx="7811795" cy="5107305"/>
            <a:chOff x="0" y="0"/>
            <a:chExt cx="10415727" cy="68097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15778" cy="6809740"/>
            </a:xfrm>
            <a:custGeom>
              <a:avLst/>
              <a:gdLst/>
              <a:ahLst/>
              <a:cxnLst/>
              <a:rect l="l" t="t" r="r" b="b"/>
              <a:pathLst>
                <a:path w="10415778" h="6809740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0256901" y="0"/>
                  </a:lnTo>
                  <a:cubicBezTo>
                    <a:pt x="10344658" y="0"/>
                    <a:pt x="10415778" y="71120"/>
                    <a:pt x="10415778" y="158877"/>
                  </a:cubicBezTo>
                  <a:lnTo>
                    <a:pt x="10415778" y="6650863"/>
                  </a:lnTo>
                  <a:cubicBezTo>
                    <a:pt x="10415778" y="6738620"/>
                    <a:pt x="10344658" y="6809740"/>
                    <a:pt x="10256901" y="6809740"/>
                  </a:cubicBezTo>
                  <a:lnTo>
                    <a:pt x="158877" y="6809740"/>
                  </a:lnTo>
                  <a:cubicBezTo>
                    <a:pt x="71120" y="6809740"/>
                    <a:pt x="0" y="6738620"/>
                    <a:pt x="0" y="6650863"/>
                  </a:cubicBezTo>
                  <a:close/>
                </a:path>
              </a:pathLst>
            </a:custGeom>
            <a:solidFill>
              <a:srgbClr val="252323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847069" y="3773310"/>
            <a:ext cx="7130834" cy="46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CREATE TABLE Progress_Report (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record_id VARCHAR(15) NOT NULL,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week_num INT NOT NULL,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description TEXT NOT NULL,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mentor_feedback TEXT,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PRIMARY KEY (record_id, week_num),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FOREIGN KEY (record_id)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REFERENCES Internship_Record(record_id)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ON DELETE CASCADE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506322"/>
            <a:ext cx="16315868" cy="94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Master Entity Data Population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92988" y="3017616"/>
          <a:ext cx="16300485" cy="5605079"/>
        </p:xfrm>
        <a:graphic>
          <a:graphicData uri="http://schemas.openxmlformats.org/drawingml/2006/table">
            <a:tbl>
              <a:tblPr/>
              <a:tblGrid>
                <a:gridCol w="2937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2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0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78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Entity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Name / Title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Domain / Program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Additional Info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Student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S101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Harsha Vardhan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B.Tech CSE, Sem 3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CGPA 8.85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Student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S102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Ananya Sharma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B.Tech CSE, Sem 3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CGPA 9.10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Company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C201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TechCorp Labs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Software, Hyderabad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hr@techcorp.com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Company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C202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DataPulse AI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Analytics, Bengaluru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jobs@datapulse.io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Faculty_Mentor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F301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Dr. Dharmendra Mishra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CSE Department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mishra@univ.edu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Faculty_Mentor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F302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Dr. K. Rao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CSE Department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rao@univ.edu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01008"/>
            <a:ext cx="16315868" cy="94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Transactional Entity Data Population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525525"/>
            <a:ext cx="7811795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Applications &amp; Placement Record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92988" y="3316547"/>
          <a:ext cx="7740347" cy="3774849"/>
        </p:xfrm>
        <a:graphic>
          <a:graphicData uri="http://schemas.openxmlformats.org/drawingml/2006/table">
            <a:tbl>
              <a:tblPr/>
              <a:tblGrid>
                <a:gridCol w="13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8283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Date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Status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Student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Posting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283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A501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2026-08-10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Accepted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S101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P401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283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A502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2026-08-12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Pending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S102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P402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992991" y="7362101"/>
            <a:ext cx="7811795" cy="100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1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Record R601:</a:t>
            </a:r>
            <a:r>
              <a:rPr lang="en-US" sz="21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2026-09-01 to 2026-11-30 | Ongoing | Application A501 | Mentor F301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06588" y="2525525"/>
            <a:ext cx="7811795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Progress Reports — Weak Entity Records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506591" y="3316547"/>
          <a:ext cx="7778477" cy="3317292"/>
        </p:xfrm>
        <a:graphic>
          <a:graphicData uri="http://schemas.openxmlformats.org/drawingml/2006/table">
            <a:tbl>
              <a:tblPr/>
              <a:tblGrid>
                <a:gridCol w="1953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3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5840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Record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Week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 b="1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Details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R601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Schema setup completed | </a:t>
                      </a:r>
                      <a:r>
                        <a:rPr lang="en-US" sz="2176" i="1">
                          <a:solidFill>
                            <a:srgbClr val="8F8F8F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Feedback: Approved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726"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R601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2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12"/>
                        </a:lnSpc>
                        <a:defRPr/>
                      </a:pPr>
                      <a:r>
                        <a:rPr lang="en-US" sz="2176">
                          <a:solidFill>
                            <a:srgbClr val="8F8F8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REST routes connected | </a:t>
                      </a:r>
                      <a:r>
                        <a:rPr lang="en-US" sz="2176" i="1">
                          <a:solidFill>
                            <a:srgbClr val="8F8F8F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Feedback: Needs indexing</a:t>
                      </a:r>
                      <a:endParaRPr lang="en-US" sz="1100"/>
                    </a:p>
                  </a:txBody>
                  <a:tcPr marL="189018" marR="189018" marT="189018" marB="18901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9506588" y="7003371"/>
            <a:ext cx="7811795" cy="2014328"/>
            <a:chOff x="0" y="0"/>
            <a:chExt cx="10415727" cy="26857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15651" cy="2685796"/>
            </a:xfrm>
            <a:custGeom>
              <a:avLst/>
              <a:gdLst/>
              <a:ahLst/>
              <a:cxnLst/>
              <a:rect l="l" t="t" r="r" b="b"/>
              <a:pathLst>
                <a:path w="10415651" h="2685796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0256774" y="0"/>
                  </a:lnTo>
                  <a:cubicBezTo>
                    <a:pt x="10344531" y="0"/>
                    <a:pt x="10415651" y="71120"/>
                    <a:pt x="10415651" y="158877"/>
                  </a:cubicBezTo>
                  <a:lnTo>
                    <a:pt x="10415651" y="2526919"/>
                  </a:lnTo>
                  <a:cubicBezTo>
                    <a:pt x="10415651" y="2614676"/>
                    <a:pt x="10344531" y="2685796"/>
                    <a:pt x="10256774" y="2685796"/>
                  </a:cubicBezTo>
                  <a:lnTo>
                    <a:pt x="158877" y="2685796"/>
                  </a:lnTo>
                  <a:cubicBezTo>
                    <a:pt x="71120" y="2685796"/>
                    <a:pt x="0" y="2614676"/>
                    <a:pt x="0" y="2526919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790319" y="7443349"/>
            <a:ext cx="354625" cy="283740"/>
            <a:chOff x="0" y="0"/>
            <a:chExt cx="472834" cy="37832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472821" cy="378333"/>
            </a:xfrm>
            <a:custGeom>
              <a:avLst/>
              <a:gdLst/>
              <a:ahLst/>
              <a:cxnLst/>
              <a:rect l="l" t="t" r="r" b="b"/>
              <a:pathLst>
                <a:path w="472821" h="378333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4" r="-676" b="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0428684" y="7234304"/>
            <a:ext cx="6605968" cy="145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Each Progress_Report row is existence-dependent on Internship_Record R601 — deletion cascades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991" y="866413"/>
            <a:ext cx="1849698" cy="316363"/>
            <a:chOff x="0" y="0"/>
            <a:chExt cx="2466264" cy="4218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6213" cy="421767"/>
            </a:xfrm>
            <a:custGeom>
              <a:avLst/>
              <a:gdLst/>
              <a:ahLst/>
              <a:cxnLst/>
              <a:rect l="l" t="t" r="r" b="b"/>
              <a:pathLst>
                <a:path w="2466213" h="421767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2372868" y="0"/>
                  </a:lnTo>
                  <a:cubicBezTo>
                    <a:pt x="2424430" y="0"/>
                    <a:pt x="2466213" y="41783"/>
                    <a:pt x="2466213" y="93345"/>
                  </a:cubicBezTo>
                  <a:lnTo>
                    <a:pt x="2466213" y="328422"/>
                  </a:lnTo>
                  <a:cubicBezTo>
                    <a:pt x="2466213" y="379984"/>
                    <a:pt x="2424430" y="421767"/>
                    <a:pt x="2372868" y="421767"/>
                  </a:cubicBezTo>
                  <a:lnTo>
                    <a:pt x="93345" y="421767"/>
                  </a:lnTo>
                  <a:cubicBezTo>
                    <a:pt x="41783" y="421767"/>
                    <a:pt x="0" y="379984"/>
                    <a:pt x="0" y="328422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17949" y="919296"/>
            <a:ext cx="2514867" cy="20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7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QUERY EXECUTION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991" y="1205732"/>
            <a:ext cx="16315868" cy="68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Multi-Table JOIN — Active Internship 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991" y="2258463"/>
            <a:ext cx="7903835" cy="34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Objective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991" y="2717968"/>
            <a:ext cx="7903835" cy="61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Retrieve active internships with student, company, and mentor details across five tables.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92991" y="3506305"/>
            <a:ext cx="7903835" cy="5750147"/>
            <a:chOff x="0" y="0"/>
            <a:chExt cx="10538447" cy="76668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38460" cy="7666863"/>
            </a:xfrm>
            <a:custGeom>
              <a:avLst/>
              <a:gdLst/>
              <a:ahLst/>
              <a:cxnLst/>
              <a:rect l="l" t="t" r="r" b="b"/>
              <a:pathLst>
                <a:path w="10538460" h="7666863">
                  <a:moveTo>
                    <a:pt x="0" y="116713"/>
                  </a:moveTo>
                  <a:cubicBezTo>
                    <a:pt x="0" y="52197"/>
                    <a:pt x="52197" y="0"/>
                    <a:pt x="116713" y="0"/>
                  </a:cubicBezTo>
                  <a:lnTo>
                    <a:pt x="10421747" y="0"/>
                  </a:lnTo>
                  <a:cubicBezTo>
                    <a:pt x="10486136" y="0"/>
                    <a:pt x="10538460" y="52197"/>
                    <a:pt x="10538460" y="116713"/>
                  </a:cubicBezTo>
                  <a:lnTo>
                    <a:pt x="10538460" y="7550150"/>
                  </a:lnTo>
                  <a:cubicBezTo>
                    <a:pt x="10538460" y="7614539"/>
                    <a:pt x="10486263" y="7666863"/>
                    <a:pt x="10421747" y="7666863"/>
                  </a:cubicBezTo>
                  <a:lnTo>
                    <a:pt x="116713" y="7666863"/>
                  </a:lnTo>
                  <a:cubicBezTo>
                    <a:pt x="52324" y="7666863"/>
                    <a:pt x="0" y="7614666"/>
                    <a:pt x="0" y="7550150"/>
                  </a:cubicBezTo>
                  <a:close/>
                </a:path>
              </a:pathLst>
            </a:custGeom>
            <a:solidFill>
              <a:srgbClr val="252323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42908" y="3619424"/>
            <a:ext cx="7403992" cy="54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SELECT s.name AS student_name,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   c.name AS company_name,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   p.title AS role,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   f.name AS mentor_name,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   r.final_status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FROM Internship_Record r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JOIN Application a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r.application_id = a.application_id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JOIN Student s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a.student_id = s.student_id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JOIN Internship_Posting p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a.posting_id = p.posting_id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JOIN Company c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p.company_id = c.company_id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LEFT JOIN Faculty_Mentor f</a:t>
            </a:r>
          </a:p>
          <a:p>
            <a:pPr algn="l">
              <a:lnSpc>
                <a:spcPts val="2515"/>
              </a:lnSpc>
            </a:pPr>
            <a:r>
              <a:rPr lang="en-US" sz="157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r.faculty_id = f.faculty_id;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64567" y="2124542"/>
            <a:ext cx="8203806" cy="7303941"/>
            <a:chOff x="0" y="0"/>
            <a:chExt cx="10938408" cy="97385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38383" cy="9738614"/>
            </a:xfrm>
            <a:custGeom>
              <a:avLst/>
              <a:gdLst/>
              <a:ahLst/>
              <a:cxnLst/>
              <a:rect l="l" t="t" r="r" b="b"/>
              <a:pathLst>
                <a:path w="10938383" h="9738614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lnTo>
                    <a:pt x="10738358" y="0"/>
                  </a:lnTo>
                  <a:cubicBezTo>
                    <a:pt x="10848848" y="0"/>
                    <a:pt x="10938383" y="89535"/>
                    <a:pt x="10938383" y="200025"/>
                  </a:cubicBezTo>
                  <a:lnTo>
                    <a:pt x="10938383" y="9538589"/>
                  </a:lnTo>
                  <a:cubicBezTo>
                    <a:pt x="10938383" y="9649079"/>
                    <a:pt x="10848848" y="9738614"/>
                    <a:pt x="10738358" y="9738614"/>
                  </a:cubicBezTo>
                  <a:lnTo>
                    <a:pt x="200025" y="9738614"/>
                  </a:lnTo>
                  <a:cubicBezTo>
                    <a:pt x="89535" y="9738614"/>
                    <a:pt x="0" y="9649079"/>
                    <a:pt x="0" y="9538589"/>
                  </a:cubicBezTo>
                  <a:close/>
                </a:path>
              </a:pathLst>
            </a:custGeom>
            <a:solidFill>
              <a:srgbClr val="424242">
                <a:alpha val="90196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472927" y="2258463"/>
            <a:ext cx="7787068" cy="34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Result</a:t>
            </a:r>
          </a:p>
        </p:txBody>
      </p: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9472930" y="2775134"/>
          <a:ext cx="7740347" cy="2192463"/>
        </p:xfrm>
        <a:graphic>
          <a:graphicData uri="http://schemas.openxmlformats.org/drawingml/2006/table">
            <a:tbl>
              <a:tblPr/>
              <a:tblGrid>
                <a:gridCol w="232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7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7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317"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Student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Company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Role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317"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Harsha Vardhan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TechCorp Labs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Backend Intern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317"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Mentor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Status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510"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Dr. Dharmendra Mishra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Ongoing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138811" marR="138811" marT="138811" marB="138811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991" y="868642"/>
            <a:ext cx="2362352" cy="404089"/>
            <a:chOff x="0" y="0"/>
            <a:chExt cx="3149803" cy="5387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49727" cy="538734"/>
            </a:xfrm>
            <a:custGeom>
              <a:avLst/>
              <a:gdLst/>
              <a:ahLst/>
              <a:cxnLst/>
              <a:rect l="l" t="t" r="r" b="b"/>
              <a:pathLst>
                <a:path w="3149727" h="538734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3030601" y="0"/>
                  </a:lnTo>
                  <a:cubicBezTo>
                    <a:pt x="3096387" y="0"/>
                    <a:pt x="3149727" y="53340"/>
                    <a:pt x="3149727" y="119126"/>
                  </a:cubicBezTo>
                  <a:lnTo>
                    <a:pt x="3149727" y="419608"/>
                  </a:lnTo>
                  <a:cubicBezTo>
                    <a:pt x="3149727" y="485394"/>
                    <a:pt x="3096387" y="538734"/>
                    <a:pt x="3030601" y="538734"/>
                  </a:cubicBezTo>
                  <a:lnTo>
                    <a:pt x="119126" y="538734"/>
                  </a:lnTo>
                  <a:cubicBezTo>
                    <a:pt x="53340" y="538734"/>
                    <a:pt x="0" y="485394"/>
                    <a:pt x="0" y="419608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52506" y="929278"/>
            <a:ext cx="2958408" cy="26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6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QUERY EXECUTION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991" y="1315222"/>
            <a:ext cx="16315868" cy="888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9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Weak Entity Traversal &amp; Aggregations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991" y="2807913"/>
            <a:ext cx="7833541" cy="43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Query A — Progress Log by Week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991" y="3523136"/>
            <a:ext cx="7833541" cy="5212909"/>
            <a:chOff x="0" y="0"/>
            <a:chExt cx="10444721" cy="69505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44734" cy="6950583"/>
            </a:xfrm>
            <a:custGeom>
              <a:avLst/>
              <a:gdLst/>
              <a:ahLst/>
              <a:cxnLst/>
              <a:rect l="l" t="t" r="r" b="b"/>
              <a:pathLst>
                <a:path w="10444734" h="6950583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0295763" y="0"/>
                  </a:lnTo>
                  <a:cubicBezTo>
                    <a:pt x="10378059" y="0"/>
                    <a:pt x="10444734" y="66675"/>
                    <a:pt x="10444734" y="148971"/>
                  </a:cubicBezTo>
                  <a:lnTo>
                    <a:pt x="10444734" y="6801612"/>
                  </a:lnTo>
                  <a:cubicBezTo>
                    <a:pt x="10444734" y="6883908"/>
                    <a:pt x="10378059" y="6950583"/>
                    <a:pt x="10295763" y="6950583"/>
                  </a:cubicBezTo>
                  <a:lnTo>
                    <a:pt x="148971" y="6950583"/>
                  </a:lnTo>
                  <a:cubicBezTo>
                    <a:pt x="66675" y="6950583"/>
                    <a:pt x="0" y="6883908"/>
                    <a:pt x="0" y="6801612"/>
                  </a:cubicBezTo>
                  <a:close/>
                </a:path>
              </a:pathLst>
            </a:custGeom>
            <a:solidFill>
              <a:srgbClr val="252323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312164" y="3674850"/>
            <a:ext cx="7195175" cy="479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SELECT s.name, pr.week_num,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   pr.description, pr.mentor_feedback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FROM Progress_Report pr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JOIN Internship_Record r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pr.record_id = r.record_id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JOIN Application a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r.application_id = a.application_id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JOIN Student s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a.student_id = s.student_id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WHERE s.student_id = 'S101'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ORDER BY pr.week_num ASC;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84843" y="2807913"/>
            <a:ext cx="7833541" cy="43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Query B — Applicants per Company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84843" y="3523136"/>
            <a:ext cx="7833541" cy="3936302"/>
            <a:chOff x="0" y="0"/>
            <a:chExt cx="10444721" cy="52484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44734" cy="5248402"/>
            </a:xfrm>
            <a:custGeom>
              <a:avLst/>
              <a:gdLst/>
              <a:ahLst/>
              <a:cxnLst/>
              <a:rect l="l" t="t" r="r" b="b"/>
              <a:pathLst>
                <a:path w="10444734" h="5248402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0295763" y="0"/>
                  </a:lnTo>
                  <a:cubicBezTo>
                    <a:pt x="10378059" y="0"/>
                    <a:pt x="10444734" y="66675"/>
                    <a:pt x="10444734" y="148971"/>
                  </a:cubicBezTo>
                  <a:lnTo>
                    <a:pt x="10444734" y="5099431"/>
                  </a:lnTo>
                  <a:cubicBezTo>
                    <a:pt x="10444734" y="5181727"/>
                    <a:pt x="10378059" y="5248402"/>
                    <a:pt x="10295763" y="5248402"/>
                  </a:cubicBezTo>
                  <a:lnTo>
                    <a:pt x="148971" y="5248402"/>
                  </a:lnTo>
                  <a:cubicBezTo>
                    <a:pt x="66675" y="5248402"/>
                    <a:pt x="0" y="5181727"/>
                    <a:pt x="0" y="5099431"/>
                  </a:cubicBezTo>
                  <a:close/>
                </a:path>
              </a:pathLst>
            </a:custGeom>
            <a:solidFill>
              <a:srgbClr val="252323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804025" y="3674850"/>
            <a:ext cx="7195175" cy="351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SELECT c.name AS company_name,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   COUNT(a.application_id) AS total_applicants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FROM Company c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JOIN Internship_Posting p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c.company_id = p.company_id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LEFT JOIN Application a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ON p.posting_id = a.posting_id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GROUP BY c.company_id, c.name;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84843" y="7739901"/>
            <a:ext cx="7833541" cy="1406033"/>
            <a:chOff x="0" y="0"/>
            <a:chExt cx="10444721" cy="18747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44734" cy="1874774"/>
            </a:xfrm>
            <a:custGeom>
              <a:avLst/>
              <a:gdLst/>
              <a:ahLst/>
              <a:cxnLst/>
              <a:rect l="l" t="t" r="r" b="b"/>
              <a:pathLst>
                <a:path w="10444734" h="1874774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0295763" y="0"/>
                  </a:lnTo>
                  <a:cubicBezTo>
                    <a:pt x="10378059" y="0"/>
                    <a:pt x="10444734" y="66675"/>
                    <a:pt x="10444734" y="148971"/>
                  </a:cubicBezTo>
                  <a:lnTo>
                    <a:pt x="10444734" y="1725803"/>
                  </a:lnTo>
                  <a:cubicBezTo>
                    <a:pt x="10444734" y="1808099"/>
                    <a:pt x="10378059" y="1874774"/>
                    <a:pt x="10295763" y="1874774"/>
                  </a:cubicBezTo>
                  <a:lnTo>
                    <a:pt x="148971" y="1874774"/>
                  </a:lnTo>
                  <a:cubicBezTo>
                    <a:pt x="66675" y="1874774"/>
                    <a:pt x="0" y="1807972"/>
                    <a:pt x="0" y="172580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750857" y="8127902"/>
            <a:ext cx="332432" cy="266014"/>
            <a:chOff x="0" y="0"/>
            <a:chExt cx="443243" cy="354686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443230" cy="354711"/>
            </a:xfrm>
            <a:custGeom>
              <a:avLst/>
              <a:gdLst/>
              <a:ahLst/>
              <a:cxnLst/>
              <a:rect l="l" t="t" r="r" b="b"/>
              <a:pathLst>
                <a:path w="443230" h="354711">
                  <a:moveTo>
                    <a:pt x="0" y="0"/>
                  </a:moveTo>
                  <a:lnTo>
                    <a:pt x="443230" y="0"/>
                  </a:lnTo>
                  <a:lnTo>
                    <a:pt x="44323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r="-17" b="7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0349303" y="7954442"/>
            <a:ext cx="6703076" cy="900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LEFT JOIN ensures companies with zero applications are still included in the result 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33284" y="9436"/>
            <a:ext cx="7535666" cy="10276166"/>
            <a:chOff x="0" y="0"/>
            <a:chExt cx="10066007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0066020" cy="13726668"/>
            </a:xfrm>
            <a:custGeom>
              <a:avLst/>
              <a:gdLst/>
              <a:ahLst/>
              <a:cxnLst/>
              <a:rect l="l" t="t" r="r" b="b"/>
              <a:pathLst>
                <a:path w="10066020" h="13726668">
                  <a:moveTo>
                    <a:pt x="0" y="0"/>
                  </a:moveTo>
                  <a:lnTo>
                    <a:pt x="10066020" y="0"/>
                  </a:lnTo>
                  <a:lnTo>
                    <a:pt x="1006602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991" y="787051"/>
            <a:ext cx="9452677" cy="158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DDDDDD"/>
                </a:solidFill>
                <a:latin typeface="Arimo"/>
                <a:ea typeface="Arimo"/>
                <a:cs typeface="Arimo"/>
                <a:sym typeface="Arimo"/>
              </a:rPr>
              <a:t>Phase 3 — Final Review Roadmap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991" y="2702300"/>
            <a:ext cx="1241269" cy="1759334"/>
            <a:chOff x="0" y="0"/>
            <a:chExt cx="1655026" cy="234577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655064" cy="2345817"/>
            </a:xfrm>
            <a:custGeom>
              <a:avLst/>
              <a:gdLst/>
              <a:ahLst/>
              <a:cxnLst/>
              <a:rect l="l" t="t" r="r" b="b"/>
              <a:pathLst>
                <a:path w="1655064" h="2345817">
                  <a:moveTo>
                    <a:pt x="0" y="0"/>
                  </a:moveTo>
                  <a:lnTo>
                    <a:pt x="1655064" y="0"/>
                  </a:lnTo>
                  <a:lnTo>
                    <a:pt x="1655064" y="2345817"/>
                  </a:lnTo>
                  <a:lnTo>
                    <a:pt x="0" y="2345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2" r="-179" b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451421" y="2931395"/>
            <a:ext cx="7994247" cy="40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Full-Stack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51421" y="3392567"/>
            <a:ext cx="7994247" cy="82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Build RESTful API endpoints connecting backend controllers to the normalised schema.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991" y="4461634"/>
            <a:ext cx="1241269" cy="1759334"/>
            <a:chOff x="0" y="0"/>
            <a:chExt cx="1655026" cy="2345779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655064" cy="2345817"/>
            </a:xfrm>
            <a:custGeom>
              <a:avLst/>
              <a:gdLst/>
              <a:ahLst/>
              <a:cxnLst/>
              <a:rect l="l" t="t" r="r" b="b"/>
              <a:pathLst>
                <a:path w="1655064" h="2345817">
                  <a:moveTo>
                    <a:pt x="0" y="0"/>
                  </a:moveTo>
                  <a:lnTo>
                    <a:pt x="1655064" y="0"/>
                  </a:lnTo>
                  <a:lnTo>
                    <a:pt x="1655064" y="2345817"/>
                  </a:lnTo>
                  <a:lnTo>
                    <a:pt x="0" y="2345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2" r="-179" b="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2451421" y="4690720"/>
            <a:ext cx="7994247" cy="40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Database Triggers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51421" y="5151901"/>
            <a:ext cx="7994247" cy="82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Auto-generate an Internship_Record row whenever an Application status changes to 'Accepted'.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991" y="6220968"/>
            <a:ext cx="1241269" cy="1489596"/>
            <a:chOff x="0" y="0"/>
            <a:chExt cx="1655026" cy="1986128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655064" cy="1986153"/>
            </a:xfrm>
            <a:custGeom>
              <a:avLst/>
              <a:gdLst/>
              <a:ahLst/>
              <a:cxnLst/>
              <a:rect l="l" t="t" r="r" b="b"/>
              <a:pathLst>
                <a:path w="1655064" h="1986153">
                  <a:moveTo>
                    <a:pt x="0" y="0"/>
                  </a:moveTo>
                  <a:lnTo>
                    <a:pt x="1655064" y="0"/>
                  </a:lnTo>
                  <a:lnTo>
                    <a:pt x="1655064" y="1986153"/>
                  </a:lnTo>
                  <a:lnTo>
                    <a:pt x="0" y="1986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5" r="-63" b="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451421" y="6450054"/>
            <a:ext cx="7994247" cy="40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Security &amp; Access Control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51421" y="6911235"/>
            <a:ext cx="7994247" cy="44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Enforce role-based access for Students, Mentors, and Companies.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92991" y="7710554"/>
            <a:ext cx="1241269" cy="1759334"/>
            <a:chOff x="0" y="0"/>
            <a:chExt cx="1655026" cy="2345779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655064" cy="2345817"/>
            </a:xfrm>
            <a:custGeom>
              <a:avLst/>
              <a:gdLst/>
              <a:ahLst/>
              <a:cxnLst/>
              <a:rect l="l" t="t" r="r" b="b"/>
              <a:pathLst>
                <a:path w="1655064" h="2345817">
                  <a:moveTo>
                    <a:pt x="0" y="0"/>
                  </a:moveTo>
                  <a:lnTo>
                    <a:pt x="1655064" y="0"/>
                  </a:lnTo>
                  <a:lnTo>
                    <a:pt x="1655064" y="2345817"/>
                  </a:lnTo>
                  <a:lnTo>
                    <a:pt x="0" y="2345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82" r="-179" b="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451421" y="7939649"/>
            <a:ext cx="7994247" cy="40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Performance Tuning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51421" y="8400831"/>
            <a:ext cx="7994247" cy="82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Add indexes on foreign keys (student_id, posting_id, record_id) and evaluate execution plans.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1140</Words>
  <Application>Microsoft Office PowerPoint</Application>
  <PresentationFormat>Custom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Arimo Bold</vt:lpstr>
      <vt:lpstr>Consolas</vt:lpstr>
      <vt:lpstr>Arimo Italics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Internship-Application-and-Progress-Monitoring-System (6).pptx</dc:title>
  <cp:lastModifiedBy>Harsha Vardhan Reddy Martala</cp:lastModifiedBy>
  <cp:revision>2</cp:revision>
  <dcterms:created xsi:type="dcterms:W3CDTF">2006-08-16T00:00:00Z</dcterms:created>
  <dcterms:modified xsi:type="dcterms:W3CDTF">2026-09-21T15:32:52Z</dcterms:modified>
  <dc:identifier>DAHVYS-yVe0</dc:identifier>
</cp:coreProperties>
</file>