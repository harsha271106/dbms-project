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Inter" charset="1" panose="02000503000000020004"/>
      <p:regular r:id="rId19"/>
    </p:embeddedFont>
    <p:embeddedFont>
      <p:font typeface="Roboto Mono Medium" charset="1" panose="00000000000000000000"/>
      <p:regular r:id="rId20"/>
    </p:embeddedFont>
    <p:embeddedFont>
      <p:font typeface="Inter Bold" charset="1" panose="0200050300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>
                <a:alpha val="51765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2581" y="4821822"/>
            <a:ext cx="16776687" cy="200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2"/>
              </a:lnSpc>
            </a:pPr>
            <a:r>
              <a:rPr lang="en-US" b="true" sz="8406" spc="-16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Internship Application and Progress Monitoring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581" y="7100221"/>
            <a:ext cx="17539268" cy="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Presentation-III: Full-Stack UI Implementation, Dual-Mode RBAC &amp; System Demonstration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581" y="7916123"/>
            <a:ext cx="16776687" cy="150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b="true" sz="1801" spc="10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MARTALA HARSHA VARDHAN REDDY | STUDENT ID: 25WU0102152</a:t>
            </a:r>
          </a:p>
          <a:p>
            <a:pPr algn="l">
              <a:lnSpc>
                <a:spcPts val="2334"/>
              </a:lnSpc>
            </a:pPr>
            <a:r>
              <a:rPr lang="en-US" b="true" sz="1801" spc="10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SCHOOL OF TECHNOLOGY, WOXSEN UNIVERSITY</a:t>
            </a:r>
          </a:p>
          <a:p>
            <a:pPr algn="l">
              <a:lnSpc>
                <a:spcPts val="2334"/>
              </a:lnSpc>
            </a:pPr>
            <a:r>
              <a:rPr lang="en-US" b="true" sz="1801" spc="10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GUIDED BY: DR. KIRAN MAYEE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00700"/>
            <a:ext cx="16776687" cy="68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b="true" sz="5254" spc="-10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Three-Tier Architecture Keeps the System Modular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581" y="1706156"/>
            <a:ext cx="16776687" cy="2144801"/>
            <a:chOff x="0" y="0"/>
            <a:chExt cx="22368916" cy="2859735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2368890" cy="2859786"/>
            </a:xfrm>
            <a:custGeom>
              <a:avLst/>
              <a:gdLst/>
              <a:ahLst/>
              <a:cxnLst/>
              <a:rect r="r" b="b" t="t" l="l"/>
              <a:pathLst>
                <a:path h="2859786" w="22368890">
                  <a:moveTo>
                    <a:pt x="0" y="0"/>
                  </a:moveTo>
                  <a:lnTo>
                    <a:pt x="22368890" y="0"/>
                  </a:lnTo>
                  <a:lnTo>
                    <a:pt x="22368890" y="2859786"/>
                  </a:lnTo>
                  <a:lnTo>
                    <a:pt x="0" y="2859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46159" y="2802722"/>
            <a:ext cx="16209521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b="true" sz="2401" spc="-48">
                <a:solidFill>
                  <a:srgbClr val="D6DEEC"/>
                </a:solidFill>
                <a:latin typeface="Arimo Bold"/>
                <a:ea typeface="Arimo Bold"/>
                <a:cs typeface="Arimo Bold"/>
                <a:sym typeface="Arimo Bold"/>
              </a:rPr>
              <a:t>Presentation tier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6159" y="3372869"/>
            <a:ext cx="16209521" cy="40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Semantic HTML5, modern CSS Grid/Flexbox, and ES6+ JavaScript with zero heavy framework bloat.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88101" y="4340990"/>
            <a:ext cx="16351167" cy="2144801"/>
            <a:chOff x="0" y="0"/>
            <a:chExt cx="21801557" cy="285973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801582" cy="2859786"/>
            </a:xfrm>
            <a:custGeom>
              <a:avLst/>
              <a:gdLst/>
              <a:ahLst/>
              <a:cxnLst/>
              <a:rect r="r" b="b" t="t" l="l"/>
              <a:pathLst>
                <a:path h="2859786" w="21801582">
                  <a:moveTo>
                    <a:pt x="0" y="0"/>
                  </a:moveTo>
                  <a:lnTo>
                    <a:pt x="21801582" y="0"/>
                  </a:lnTo>
                  <a:lnTo>
                    <a:pt x="21801582" y="2859786"/>
                  </a:lnTo>
                  <a:lnTo>
                    <a:pt x="0" y="2859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t="0" r="-19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71679" y="5437546"/>
            <a:ext cx="15784001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b="true" sz="2401" spc="-48">
                <a:solidFill>
                  <a:srgbClr val="D6DEEC"/>
                </a:solidFill>
                <a:latin typeface="Arimo Bold"/>
                <a:ea typeface="Arimo Bold"/>
                <a:cs typeface="Arimo Bold"/>
                <a:sym typeface="Arimo Bold"/>
              </a:rPr>
              <a:t>Application tier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1679" y="6007694"/>
            <a:ext cx="15784001" cy="77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Node.js + Express.js REST APIs, non-blocking asynchronous routing, and mysql2/promise pooling with 10 concurrent connections.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13621" y="7348176"/>
            <a:ext cx="15925638" cy="2144801"/>
            <a:chOff x="0" y="0"/>
            <a:chExt cx="21234184" cy="285973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1234146" cy="2859786"/>
            </a:xfrm>
            <a:custGeom>
              <a:avLst/>
              <a:gdLst/>
              <a:ahLst/>
              <a:cxnLst/>
              <a:rect r="r" b="b" t="t" l="l"/>
              <a:pathLst>
                <a:path h="2859786" w="21234146">
                  <a:moveTo>
                    <a:pt x="0" y="0"/>
                  </a:moveTo>
                  <a:lnTo>
                    <a:pt x="21234146" y="0"/>
                  </a:lnTo>
                  <a:lnTo>
                    <a:pt x="21234146" y="2859786"/>
                  </a:lnTo>
                  <a:lnTo>
                    <a:pt x="0" y="2859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" t="0" r="-9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97209" y="8444732"/>
            <a:ext cx="15358472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b="true" sz="2401" spc="-48">
                <a:solidFill>
                  <a:srgbClr val="D6DEEC"/>
                </a:solidFill>
                <a:latin typeface="Arimo Bold"/>
                <a:ea typeface="Arimo Bold"/>
                <a:cs typeface="Arimo Bold"/>
                <a:sym typeface="Arimo Bold"/>
              </a:rPr>
              <a:t>Database tier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7209" y="9014889"/>
            <a:ext cx="15358472" cy="40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MySQL 8.0 with InnoDB on Port 3306, strict 3NF normalization, foreign-key cascading, and 3 performance views.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10225"/>
            <a:ext cx="16776687" cy="77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b="true" sz="6004" spc="-1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UI Makes Relational Data Easy to Scan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581" y="1910210"/>
            <a:ext cx="3851015" cy="6877812"/>
            <a:chOff x="0" y="0"/>
            <a:chExt cx="5134686" cy="9170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4737" cy="9170416"/>
            </a:xfrm>
            <a:custGeom>
              <a:avLst/>
              <a:gdLst/>
              <a:ahLst/>
              <a:cxnLst/>
              <a:rect r="r" b="b" t="t" l="l"/>
              <a:pathLst>
                <a:path h="9170416" w="5134737">
                  <a:moveTo>
                    <a:pt x="0" y="0"/>
                  </a:moveTo>
                  <a:lnTo>
                    <a:pt x="5134737" y="0"/>
                  </a:lnTo>
                  <a:lnTo>
                    <a:pt x="5134737" y="9170416"/>
                  </a:lnTo>
                  <a:lnTo>
                    <a:pt x="0" y="917041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05738" y="2224802"/>
            <a:ext cx="3164691" cy="92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Header &amp; navigation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5738" y="3331483"/>
            <a:ext cx="3164691" cy="186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MySQL status on Port 3306 plus authentication mode trigger.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71139" y="1910210"/>
            <a:ext cx="3851015" cy="6877812"/>
            <a:chOff x="0" y="0"/>
            <a:chExt cx="5134686" cy="91704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4737" cy="9170416"/>
            </a:xfrm>
            <a:custGeom>
              <a:avLst/>
              <a:gdLst/>
              <a:ahLst/>
              <a:cxnLst/>
              <a:rect r="r" b="b" t="t" l="l"/>
              <a:pathLst>
                <a:path h="9170416" w="5134737">
                  <a:moveTo>
                    <a:pt x="0" y="0"/>
                  </a:moveTo>
                  <a:lnTo>
                    <a:pt x="5134737" y="0"/>
                  </a:lnTo>
                  <a:lnTo>
                    <a:pt x="5134737" y="9170416"/>
                  </a:lnTo>
                  <a:lnTo>
                    <a:pt x="0" y="917041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14296" y="2224802"/>
            <a:ext cx="3164691" cy="47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Metric &amp; KPI strip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14296" y="2885389"/>
            <a:ext cx="3164691" cy="276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count cards for 30 Students, 30 Companies, 30 Postings, and 30 Records.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79696" y="1910210"/>
            <a:ext cx="3851015" cy="6877812"/>
            <a:chOff x="0" y="0"/>
            <a:chExt cx="5134686" cy="9170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4737" cy="9170416"/>
            </a:xfrm>
            <a:custGeom>
              <a:avLst/>
              <a:gdLst/>
              <a:ahLst/>
              <a:cxnLst/>
              <a:rect r="r" b="b" t="t" l="l"/>
              <a:pathLst>
                <a:path h="9170416" w="5134737">
                  <a:moveTo>
                    <a:pt x="0" y="0"/>
                  </a:moveTo>
                  <a:lnTo>
                    <a:pt x="5134737" y="0"/>
                  </a:lnTo>
                  <a:lnTo>
                    <a:pt x="5134737" y="9170416"/>
                  </a:lnTo>
                  <a:lnTo>
                    <a:pt x="0" y="917041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22853" y="2224802"/>
            <a:ext cx="3164691" cy="92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Full-width view container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2853" y="3331483"/>
            <a:ext cx="3164691" cy="186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pre-joined view_active_postings directory avoids column truncation.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688254" y="1910210"/>
            <a:ext cx="3851015" cy="6877812"/>
            <a:chOff x="0" y="0"/>
            <a:chExt cx="5134686" cy="91704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4737" cy="9170416"/>
            </a:xfrm>
            <a:custGeom>
              <a:avLst/>
              <a:gdLst/>
              <a:ahLst/>
              <a:cxnLst/>
              <a:rect r="r" b="b" t="t" l="l"/>
              <a:pathLst>
                <a:path h="9170416" w="5134737">
                  <a:moveTo>
                    <a:pt x="0" y="0"/>
                  </a:moveTo>
                  <a:lnTo>
                    <a:pt x="5134737" y="0"/>
                  </a:lnTo>
                  <a:lnTo>
                    <a:pt x="5134737" y="9170416"/>
                  </a:lnTo>
                  <a:lnTo>
                    <a:pt x="0" y="917041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031411" y="2224802"/>
            <a:ext cx="3164691" cy="92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Two-column relational grid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31411" y="3331483"/>
            <a:ext cx="3164691" cy="140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six relational tables with custom 6px slim scrollbars.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2581" y="9031138"/>
            <a:ext cx="17539268" cy="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Design focus: zero horizontal clipping, contrast accessibility, and instant visual hierarchy.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10225"/>
            <a:ext cx="16776687" cy="159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b="true" sz="6004" spc="-1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Dual-Layer RBAC Separates Experience from Enforcement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581" y="2733723"/>
            <a:ext cx="5287099" cy="5367957"/>
            <a:chOff x="0" y="0"/>
            <a:chExt cx="7049465" cy="71572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49516" cy="7157339"/>
            </a:xfrm>
            <a:custGeom>
              <a:avLst/>
              <a:gdLst/>
              <a:ahLst/>
              <a:cxnLst/>
              <a:rect r="r" b="b" t="t" l="l"/>
              <a:pathLst>
                <a:path h="7157339" w="7049516">
                  <a:moveTo>
                    <a:pt x="0" y="0"/>
                  </a:moveTo>
                  <a:lnTo>
                    <a:pt x="7049516" y="0"/>
                  </a:lnTo>
                  <a:lnTo>
                    <a:pt x="7049516" y="7157339"/>
                  </a:lnTo>
                  <a:lnTo>
                    <a:pt x="0" y="7157339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05738" y="3038799"/>
            <a:ext cx="4600785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Viewer mode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5738" y="3807952"/>
            <a:ext cx="4600785" cy="186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read-only access; mutation forms and action buttons are suppressed from the DOM.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07223" y="2733723"/>
            <a:ext cx="5287251" cy="5367957"/>
            <a:chOff x="0" y="0"/>
            <a:chExt cx="7049668" cy="7157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9643" cy="7157339"/>
            </a:xfrm>
            <a:custGeom>
              <a:avLst/>
              <a:gdLst/>
              <a:ahLst/>
              <a:cxnLst/>
              <a:rect r="r" b="b" t="t" l="l"/>
              <a:pathLst>
                <a:path h="7157339" w="7049643">
                  <a:moveTo>
                    <a:pt x="0" y="0"/>
                  </a:moveTo>
                  <a:lnTo>
                    <a:pt x="7049643" y="0"/>
                  </a:lnTo>
                  <a:lnTo>
                    <a:pt x="7049643" y="7157339"/>
                  </a:lnTo>
                  <a:lnTo>
                    <a:pt x="0" y="7157339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850380" y="3038799"/>
            <a:ext cx="4600927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Owner mode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0380" y="3807952"/>
            <a:ext cx="4600927" cy="231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native HTML5 dialog with passkey authentication using Harsha@2026; insert forms and red delete actions appear dynamically.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52017" y="2733723"/>
            <a:ext cx="5287251" cy="5367957"/>
            <a:chOff x="0" y="0"/>
            <a:chExt cx="7049668" cy="7157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9643" cy="7157339"/>
            </a:xfrm>
            <a:custGeom>
              <a:avLst/>
              <a:gdLst/>
              <a:ahLst/>
              <a:cxnLst/>
              <a:rect r="r" b="b" t="t" l="l"/>
              <a:pathLst>
                <a:path h="7157339" w="7049643">
                  <a:moveTo>
                    <a:pt x="0" y="0"/>
                  </a:moveTo>
                  <a:lnTo>
                    <a:pt x="7049643" y="0"/>
                  </a:lnTo>
                  <a:lnTo>
                    <a:pt x="7049643" y="7157339"/>
                  </a:lnTo>
                  <a:lnTo>
                    <a:pt x="0" y="7157339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95174" y="3038799"/>
            <a:ext cx="4600927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Server enforcement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95174" y="3807952"/>
            <a:ext cx="4600927" cy="186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 Express requireOwner middleware checks the x-owner-key header on all POST and DELETE routes.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2581" y="8392430"/>
            <a:ext cx="16776687" cy="1140019"/>
            <a:chOff x="0" y="0"/>
            <a:chExt cx="22368916" cy="15200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68890" cy="1520063"/>
            </a:xfrm>
            <a:custGeom>
              <a:avLst/>
              <a:gdLst/>
              <a:ahLst/>
              <a:cxnLst/>
              <a:rect r="r" b="b" t="t" l="l"/>
              <a:pathLst>
                <a:path h="1520063" w="22368890">
                  <a:moveTo>
                    <a:pt x="0" y="0"/>
                  </a:moveTo>
                  <a:lnTo>
                    <a:pt x="22368890" y="0"/>
                  </a:lnTo>
                  <a:lnTo>
                    <a:pt x="22368890" y="1520063"/>
                  </a:lnTo>
                  <a:lnTo>
                    <a:pt x="0" y="1520063"/>
                  </a:lnTo>
                  <a:close/>
                </a:path>
              </a:pathLst>
            </a:custGeom>
            <a:solidFill>
              <a:srgbClr val="12332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20124" y="8687972"/>
            <a:ext cx="16319144" cy="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Security result:</a:t>
            </a: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unauthenticated terminal or curl write attempts return HTTP 403 Forbidden.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10225"/>
            <a:ext cx="16776687" cy="159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b="true" sz="6004" spc="-1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Viewer Mode Loads the Full Dashboard at Once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581" y="3029274"/>
            <a:ext cx="9247584" cy="39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Read-only browsing: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Promise.all() fetches and renders all seven database tables asynchronously on page load.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Global live search: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keyup filtering scans every table row without repeated database calls.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Search coverage: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student names, IDs, companies, mentor names, and status flags.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Interaction target: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under 10ms client-side response time for substring matching.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67556" y="2733723"/>
            <a:ext cx="7071703" cy="7089315"/>
            <a:chOff x="0" y="0"/>
            <a:chExt cx="9428937" cy="94524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28988" cy="9452356"/>
            </a:xfrm>
            <a:custGeom>
              <a:avLst/>
              <a:gdLst/>
              <a:ahLst/>
              <a:cxnLst/>
              <a:rect r="r" b="b" t="t" l="l"/>
              <a:pathLst>
                <a:path h="9452356" w="9428988">
                  <a:moveTo>
                    <a:pt x="0" y="0"/>
                  </a:moveTo>
                  <a:lnTo>
                    <a:pt x="9428988" y="0"/>
                  </a:lnTo>
                  <a:lnTo>
                    <a:pt x="9428988" y="9452356"/>
                  </a:lnTo>
                  <a:lnTo>
                    <a:pt x="0" y="945235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25099" y="3191285"/>
            <a:ext cx="6156617" cy="6174200"/>
            <a:chOff x="0" y="0"/>
            <a:chExt cx="8208823" cy="82322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208772" cy="8232267"/>
            </a:xfrm>
            <a:custGeom>
              <a:avLst/>
              <a:gdLst/>
              <a:ahLst/>
              <a:cxnLst/>
              <a:rect r="r" b="b" t="t" l="l"/>
              <a:pathLst>
                <a:path h="8232267" w="8208772">
                  <a:moveTo>
                    <a:pt x="0" y="0"/>
                  </a:moveTo>
                  <a:lnTo>
                    <a:pt x="8208772" y="0"/>
                  </a:lnTo>
                  <a:lnTo>
                    <a:pt x="8208772" y="8232267"/>
                  </a:lnTo>
                  <a:lnTo>
                    <a:pt x="0" y="8232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10225"/>
            <a:ext cx="16776687" cy="159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b="true" sz="6004" spc="-1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Owner Authentication Unlocks Safe Record Insertion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581" y="3029274"/>
            <a:ext cx="9791519" cy="39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07" indent="-231104" lvl="1">
              <a:lnSpc>
                <a:spcPts val="3583"/>
              </a:lnSpc>
              <a:buAutoNum type="arabicPeriod" startAt="1"/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Open the native modal and verify credentials through /api/verify-owner.</a:t>
            </a:r>
          </a:p>
          <a:p>
            <a:pPr algn="l" marL="462207" indent="-231104" lvl="1">
              <a:lnSpc>
                <a:spcPts val="3583"/>
              </a:lnSpc>
              <a:buAutoNum type="arabicPeriod" startAt="1"/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Validate academic inputs: Student ID, Name, Email, Semester, and CGPA.</a:t>
            </a:r>
          </a:p>
          <a:p>
            <a:pPr algn="l" marL="462207" indent="-231104" lvl="1">
              <a:lnSpc>
                <a:spcPts val="3583"/>
              </a:lnSpc>
              <a:buAutoNum type="arabicPeriod" startAt="1"/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Submit structured JSON asynchronously to Express through a POST request.</a:t>
            </a:r>
          </a:p>
          <a:p>
            <a:pPr algn="l" marL="462207" indent="-231104" lvl="1">
              <a:lnSpc>
                <a:spcPts val="3583"/>
              </a:lnSpc>
              <a:buAutoNum type="arabicPeriod" startAt="1"/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Synchronize the DOM and update the table row without a full page reload.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011491" y="2733723"/>
            <a:ext cx="6527778" cy="6798716"/>
            <a:chOff x="0" y="0"/>
            <a:chExt cx="8703704" cy="90649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03691" cy="9065006"/>
            </a:xfrm>
            <a:custGeom>
              <a:avLst/>
              <a:gdLst/>
              <a:ahLst/>
              <a:cxnLst/>
              <a:rect r="r" b="b" t="t" l="l"/>
              <a:pathLst>
                <a:path h="9065006" w="8703691">
                  <a:moveTo>
                    <a:pt x="0" y="0"/>
                  </a:moveTo>
                  <a:lnTo>
                    <a:pt x="8703691" y="0"/>
                  </a:lnTo>
                  <a:lnTo>
                    <a:pt x="8703691" y="9065006"/>
                  </a:lnTo>
                  <a:lnTo>
                    <a:pt x="0" y="9065006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69033" y="3528050"/>
            <a:ext cx="5612682" cy="5210080"/>
            <a:chOff x="0" y="0"/>
            <a:chExt cx="7483577" cy="69467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483602" cy="6946773"/>
            </a:xfrm>
            <a:custGeom>
              <a:avLst/>
              <a:gdLst/>
              <a:ahLst/>
              <a:cxnLst/>
              <a:rect r="r" b="b" t="t" l="l"/>
              <a:pathLst>
                <a:path h="6946773" w="7483602">
                  <a:moveTo>
                    <a:pt x="0" y="0"/>
                  </a:moveTo>
                  <a:lnTo>
                    <a:pt x="7483602" y="0"/>
                  </a:lnTo>
                  <a:lnTo>
                    <a:pt x="7483602" y="6946773"/>
                  </a:lnTo>
                  <a:lnTo>
                    <a:pt x="0" y="6946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753075"/>
            <a:ext cx="17539268" cy="25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b="true" sz="1501" spc="90">
                <a:solidFill>
                  <a:srgbClr val="9FB0CC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OWNER MODE · REFERENTIAL INTEGRITY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581" y="1145800"/>
            <a:ext cx="16776687" cy="67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b="true" sz="5254" spc="-10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Foreign-Key Cascades Keep Deletion Clean.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581" y="2383584"/>
            <a:ext cx="9791519" cy="396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2945"/>
              </a:lnSpc>
              <a:buFont typeface="Arial"/>
              <a:buChar char="•"/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Dedicated Remove triggers appear only in Owner Mode, keeping destructive actions out of the viewer experience.</a:t>
            </a:r>
          </a:p>
          <a:p>
            <a:pPr algn="l" marL="407830" indent="-203915" lvl="1">
              <a:lnSpc>
                <a:spcPts val="2945"/>
              </a:lnSpc>
              <a:buFont typeface="Arial"/>
              <a:buChar char="•"/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Native browser confirmation prevents accidental deletions before a request is sent.</a:t>
            </a:r>
          </a:p>
          <a:p>
            <a:pPr algn="l" marL="407830" indent="-203915" lvl="1">
              <a:lnSpc>
                <a:spcPts val="2945"/>
              </a:lnSpc>
              <a:buFont typeface="Arial"/>
              <a:buChar char="•"/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DELETE requests pass server-side validation before the database mutation is allowed.</a:t>
            </a:r>
          </a:p>
          <a:p>
            <a:pPr algn="l" marL="407830" indent="-203915" lvl="1">
              <a:lnSpc>
                <a:spcPts val="2945"/>
              </a:lnSpc>
              <a:buFont typeface="Arial"/>
              <a:buChar char="•"/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Deleting a parent student or posting cleanly purges linked application rows and progress milestone logs through InnoDB ON DELETE CASCADE.</a:t>
            </a:r>
          </a:p>
          <a:p>
            <a:pPr algn="l" marL="407830" indent="-203915" lvl="1">
              <a:lnSpc>
                <a:spcPts val="2945"/>
              </a:lnSpc>
              <a:buFont typeface="Arial"/>
              <a:buChar char="•"/>
            </a:pPr>
            <a:r>
              <a:rPr lang="en-US" sz="22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The result is a consistent relational dataset with zero orphaned data.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11491" y="2068992"/>
            <a:ext cx="6527778" cy="8232905"/>
            <a:chOff x="0" y="0"/>
            <a:chExt cx="8703704" cy="109772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03691" cy="10977245"/>
            </a:xfrm>
            <a:custGeom>
              <a:avLst/>
              <a:gdLst/>
              <a:ahLst/>
              <a:cxnLst/>
              <a:rect r="r" b="b" t="t" l="l"/>
              <a:pathLst>
                <a:path h="10977245" w="8703691">
                  <a:moveTo>
                    <a:pt x="0" y="0"/>
                  </a:moveTo>
                  <a:lnTo>
                    <a:pt x="8703691" y="0"/>
                  </a:lnTo>
                  <a:lnTo>
                    <a:pt x="8703691" y="10977245"/>
                  </a:lnTo>
                  <a:lnTo>
                    <a:pt x="0" y="10977245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64271" y="2521782"/>
            <a:ext cx="2107806" cy="437750"/>
            <a:chOff x="0" y="0"/>
            <a:chExt cx="2810408" cy="583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0383" cy="583565"/>
            </a:xfrm>
            <a:custGeom>
              <a:avLst/>
              <a:gdLst/>
              <a:ahLst/>
              <a:cxnLst/>
              <a:rect r="r" b="b" t="t" l="l"/>
              <a:pathLst>
                <a:path h="583565" w="2810383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2681351" y="0"/>
                  </a:lnTo>
                  <a:cubicBezTo>
                    <a:pt x="2752598" y="0"/>
                    <a:pt x="2810383" y="57785"/>
                    <a:pt x="2810383" y="129032"/>
                  </a:cubicBezTo>
                  <a:lnTo>
                    <a:pt x="2810383" y="454533"/>
                  </a:lnTo>
                  <a:cubicBezTo>
                    <a:pt x="2810383" y="525780"/>
                    <a:pt x="2752598" y="583565"/>
                    <a:pt x="2681351" y="583565"/>
                  </a:cubicBezTo>
                  <a:lnTo>
                    <a:pt x="129032" y="583565"/>
                  </a:lnTo>
                  <a:cubicBezTo>
                    <a:pt x="57785" y="583692"/>
                    <a:pt x="0" y="525907"/>
                    <a:pt x="0" y="4545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9" r="0" b="-43847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638083" y="2610993"/>
            <a:ext cx="2675277" cy="2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b="true" sz="1801" spc="10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DELETE FLOW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69033" y="3297926"/>
            <a:ext cx="5612682" cy="5932008"/>
            <a:chOff x="0" y="0"/>
            <a:chExt cx="7483577" cy="7909344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483602" cy="7909306"/>
            </a:xfrm>
            <a:custGeom>
              <a:avLst/>
              <a:gdLst/>
              <a:ahLst/>
              <a:cxnLst/>
              <a:rect r="r" b="b" t="t" l="l"/>
              <a:pathLst>
                <a:path h="7909306" w="7483602">
                  <a:moveTo>
                    <a:pt x="0" y="0"/>
                  </a:moveTo>
                  <a:lnTo>
                    <a:pt x="7483602" y="0"/>
                  </a:lnTo>
                  <a:lnTo>
                    <a:pt x="7483602" y="7909306"/>
                  </a:lnTo>
                  <a:lnTo>
                    <a:pt x="0" y="790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9033" y="9317679"/>
            <a:ext cx="5612682" cy="52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b="true" sz="1576" spc="94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OWNER CONFIRMATION → VALIDATED DELETE → CASCADE CLEANUP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581" y="810225"/>
            <a:ext cx="16776687" cy="159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b="true" sz="6004" spc="-1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Testing Confirms the Core User and Data Flows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581" y="2686098"/>
            <a:ext cx="17539268" cy="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Seeded benchmark dataset: 30 rows per table, 210 relational records total.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576" y="3478151"/>
          <a:ext cx="16738977" cy="5776663"/>
        </p:xfrm>
        <a:graphic>
          <a:graphicData uri="http://schemas.openxmlformats.org/drawingml/2006/table">
            <a:tbl>
              <a:tblPr/>
              <a:tblGrid>
                <a:gridCol w="11555505"/>
                <a:gridCol w="3631676"/>
                <a:gridCol w="517217"/>
                <a:gridCol w="517217"/>
                <a:gridCol w="517363"/>
              </a:tblGrid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case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TC-01 Page load &amp; multi-view rendering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TC-02 Owner mode passkey handshake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TC-03 Security middleware route guard, 403 on raw POST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TC-04 Record creation &amp; DOM update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 CGPA check constraint, CGPA ≤ 10.00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TC-06 ON DELETE CASCADE referential integrity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3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solidFill>
                            <a:srgbClr val="D6DEE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TC-07 Real-time global substring filter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PASS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23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23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A1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137835" cy="10295039"/>
            <a:chOff x="0" y="0"/>
            <a:chExt cx="951711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12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517126">
                  <a:moveTo>
                    <a:pt x="0" y="0"/>
                  </a:moveTo>
                  <a:lnTo>
                    <a:pt x="9517126" y="0"/>
                  </a:lnTo>
                  <a:lnTo>
                    <a:pt x="951712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C3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1929" y="3145631"/>
            <a:ext cx="5993968" cy="409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b="true" sz="6605" spc="-13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From Fragile Spreadsheets to an ACID-Compliant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57806" y="3058763"/>
            <a:ext cx="9181452" cy="338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Technical milestone: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delivered a 3NF-normalized web application with a reliable relational core.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Repository: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Public GitHub structure includes /Presentation-I, /Presentation-II, /Presentation-III, and /Project-Report.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b="true" sz="2551">
                <a:solidFill>
                  <a:srgbClr val="D6DEEC"/>
                </a:solidFill>
                <a:latin typeface="Inter Bold"/>
                <a:ea typeface="Inter Bold"/>
                <a:cs typeface="Inter Bold"/>
                <a:sym typeface="Inter Bold"/>
              </a:rPr>
              <a:t>Deliverables:</a:t>
            </a: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 complete source code, SQL seed dumps, ER diagram, and UI verification screenshots.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57806" y="6687350"/>
            <a:ext cx="9944033" cy="5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D6DEEC"/>
                </a:solidFill>
                <a:latin typeface="Inter"/>
                <a:ea typeface="Inter"/>
                <a:cs typeface="Inter"/>
                <a:sym typeface="Inter"/>
              </a:rPr>
              <a:t>Thank You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DAHXLBVR5DQ</dc:identifier>
  <dcterms:modified xsi:type="dcterms:W3CDTF">2011-08-01T06:04:30Z</dcterms:modified>
  <cp:revision>1</cp:revision>
  <dc:title>Internship-Application-and-Progress-Monitoring-System (8).pptx</dc:title>
</cp:coreProperties>
</file>